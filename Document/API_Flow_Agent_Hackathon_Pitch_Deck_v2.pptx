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9" r:id="rId4"/>
    <p:sldId id="260" r:id="rId5"/>
    <p:sldId id="261" r:id="rId6"/>
    <p:sldId id="262" r:id="rId7"/>
    <p:sldId id="263" r:id="rId8"/>
    <p:sldId id="265" r:id="rId9"/>
    <p:sldId id="267" r:id="rId10"/>
    <p:sldId id="269"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5" d="100"/>
          <a:sy n="115" d="100"/>
        </p:scale>
        <p:origin x="396"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21/9/2026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Một câu định vị duy nhất: Chúng tôi không làm chatbot trả lời về code. Chúng tôi làm công cụ đọc code thay con người, và mỗi câu nó viết ra đều chỉ được tới file:line chứng minh.
[Sources]
Visual on this slide was generated with Microsoft Copilot.
[/Sources]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nỗi đau về thời gian của người giỏi nhất trong team. Người duy nhất trả lời được câu hỏi này cũng là người đang gánh việc quan trọng nhất.
[Sources]
Visual on this slide was generated with Microsoft Copilot.
[/Sources]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Điểm số 4 là khác biệt nhất. Công cụ được thiết kế để biết mình không biết gì, thay vì lấp chỗ trống bằng văn hay.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sẵn 2 tab. Tab 1 là file HTML, cuộn tới bảng dẫn chứng và click mã [E7]. Tab 2 là sơ đồ PlantUML đã render. Kết bằng mục Cần xác nhận với developer.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Nếu giám khảo chỉ nhớ một slide, hãy để họ nhớ slide này. AI ở đây là trợ lý bị giám sát, không phải nguồn sự thật.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nhánh tách đôi có chủ đích. Tắt hẳn nhánh AI thì sản phẩm vẫn dùng được, chỉ mất phần văn xuôi. Không có chỗ nào LLM là mắt xích bắt buộc.</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phần chứng minh chiều sâu domain. Nhấn mạnh stored procedure, error code và khả năng tìm endpoint theo ngôn ngữ nghiệp vụ.</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token của LLM là tiền thật. Product để chế độ rẻ nhất làm mặc định và bắt người dùng chủ động bật phần tốn tiền.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Đưa một phép tính đơn giản và thật, dựa trên số API của hệ thống đang làm. Không dùng số phỏng đoán.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lại bằng điều muốn xin cụ thể: mentor, quyền truy cập repository thật để benchmark, hoặc suất triển khai thí điểm.
[Sources]
Visual on this slide was generated with Microsoft Copilot.
[/Sources]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
    <p:bg>
      <p:bgPr>
        <a:solidFill>
          <a:srgbClr val="06101D"/>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28D7F2"/>
          </a:solidFill>
          <a:ln w="12700">
            <a:solidFill>
              <a:srgbClr val="28D7F2"/>
            </a:solidFill>
            <a:prstDash val="solid"/>
          </a:ln>
        </p:spPr>
      </p:sp>
      <p:sp>
        <p:nvSpPr>
          <p:cNvPr id="3" name="Text 1"/>
          <p:cNvSpPr/>
          <p:nvPr/>
        </p:nvSpPr>
        <p:spPr>
          <a:xfrm>
            <a:off x="438912" y="6510528"/>
            <a:ext cx="2286000" cy="137160"/>
          </a:xfrm>
          <a:prstGeom prst="rect">
            <a:avLst/>
          </a:prstGeom>
          <a:noFill/>
          <a:ln/>
        </p:spPr>
        <p:txBody>
          <a:bodyPr wrap="square" lIns="0" tIns="0" rIns="0" bIns="0" rtlCol="0" anchor="ctr"/>
          <a:lstStyle/>
          <a:p>
            <a:pPr marL="0" indent="0">
              <a:buNone/>
            </a:pPr>
            <a:r>
              <a:rPr lang="en-US" sz="750" b="1" kern="0" spc="120" dirty="0">
                <a:solidFill>
                  <a:srgbClr val="667D96"/>
                </a:solidFill>
              </a:rPr>
              <a:t>API FLOW AGENT</a:t>
            </a:r>
            <a:endParaRPr lang="en-US" sz="750" dirty="0"/>
          </a:p>
        </p:txBody>
      </p:sp>
      <p:sp>
        <p:nvSpPr>
          <p:cNvPr id="4" name="Text 2"/>
          <p:cNvSpPr/>
          <p:nvPr/>
        </p:nvSpPr>
        <p:spPr>
          <a:xfrm>
            <a:off x="9326880" y="6510528"/>
            <a:ext cx="2377440" cy="137160"/>
          </a:xfrm>
          <a:prstGeom prst="rect">
            <a:avLst/>
          </a:prstGeom>
          <a:noFill/>
          <a:ln/>
        </p:spPr>
        <p:txBody>
          <a:bodyPr wrap="square" lIns="0" tIns="0" rIns="0" bIns="0" rtlCol="0" anchor="ctr"/>
          <a:lstStyle/>
          <a:p>
            <a:pPr marL="0" indent="0" algn="r">
              <a:buNone/>
            </a:pPr>
            <a:r>
              <a:rPr lang="en-US" sz="750" b="1" kern="0" spc="110" dirty="0">
                <a:solidFill>
                  <a:srgbClr val="667D96"/>
                </a:solidFill>
              </a:rPr>
              <a:t>GRENNODE HACKATHON</a:t>
            </a:r>
            <a:endParaRPr lang="en-US" sz="750" dirty="0"/>
          </a:p>
        </p:txBody>
      </p:sp>
      <p:sp>
        <p:nvSpPr>
          <p:cNvPr id="25" name="Slide Number Placeholder 0"/>
          <p:cNvSpPr>
            <a:spLocks noGrp="1"/>
          </p:cNvSpPr>
          <p:nvPr>
            <p:ph type="sldNum" sz="quarter" idx="4294967295"/>
          </p:nvPr>
        </p:nvSpPr>
        <p:spPr>
          <a:xfrm>
            <a:off x="11768328" y="6492240"/>
            <a:ext cx="182880" cy="137160"/>
          </a:xfrm>
          <a:prstGeom prst="rect">
            <a:avLst/>
          </a:prstGeom>
          <a:extLst>
            <a:ext uri="{C572A759-6A51-4108-AA02-DFA0A04FC94B}">
              <ma14:wrappingTextBoxFlag xmlns:ma14="http://schemas.microsoft.com/office/mac/drawingml/2011/main" xmlns="" val="0"/>
            </a:ext>
          </a:extLst>
        </p:spPr>
        <p:txBody>
          <a:bodyPr lIns="0" tIns="0" rIns="0" bIns="0"/>
          <a:lstStyle>
            <a:lvl1pPr>
              <a:defRPr sz="800">
                <a:solidFill>
                  <a:srgbClr val="667D96"/>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68328" y="6492240"/>
            <a:ext cx="182880" cy="137160"/>
          </a:xfrm>
          <a:prstGeom prst="rect">
            <a:avLst/>
          </a:prstGeom>
          <a:extLst>
            <a:ext uri="{C572A759-6A51-4108-AA02-DFA0A04FC94B}">
              <ma14:wrappingTextBoxFlag xmlns:ma14="http://schemas.microsoft.com/office/mac/drawingml/2011/main" xmlns="" val="0"/>
            </a:ext>
          </a:extLst>
        </p:spPr>
        <p:txBody>
          <a:bodyPr lIns="0" tIns="0" rIns="0" bIns="0"/>
          <a:lstStyle>
            <a:lvl1pPr>
              <a:defRPr sz="800">
                <a:solidFill>
                  <a:srgbClr val="667D96"/>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1" cy="1"/>
          <a:chOff x="0" y="0"/>
          <a:chExt cx="1" cy="1"/>
        </a:xfrm>
      </p:grpSpPr>
      <p:pic>
        <p:nvPicPr>
          <p:cNvPr id="2" name="Image 0" descr="/mnt/data/7884e335ef.png"/>
          <p:cNvPicPr>
            <a:picLocks noChangeAspect="1"/>
          </p:cNvPicPr>
          <p:nvPr/>
        </p:nvPicPr>
        <p:blipFill>
          <a:blip r:embed="rId3"/>
          <a:srcRect l="22594" r="22594"/>
          <a:stretch/>
        </p:blipFill>
        <p:spPr>
          <a:xfrm>
            <a:off x="6903720" y="64008"/>
            <a:ext cx="5285232" cy="6428232"/>
          </a:xfrm>
          <a:prstGeom prst="rect">
            <a:avLst/>
          </a:prstGeom>
        </p:spPr>
      </p:pic>
      <p:sp>
        <p:nvSpPr>
          <p:cNvPr id="3" name="Shape 0"/>
          <p:cNvSpPr/>
          <p:nvPr/>
        </p:nvSpPr>
        <p:spPr>
          <a:xfrm>
            <a:off x="0" y="64008"/>
            <a:ext cx="6903720" cy="6428232"/>
          </a:xfrm>
          <a:prstGeom prst="rect">
            <a:avLst/>
          </a:prstGeom>
          <a:solidFill>
            <a:srgbClr val="06101D"/>
          </a:solidFill>
          <a:ln w="12700">
            <a:solidFill>
              <a:srgbClr val="06101D"/>
            </a:solidFill>
            <a:prstDash val="solid"/>
          </a:ln>
        </p:spPr>
      </p:sp>
      <p:sp>
        <p:nvSpPr>
          <p:cNvPr id="4" name="Shape 1"/>
          <p:cNvSpPr/>
          <p:nvPr/>
        </p:nvSpPr>
        <p:spPr>
          <a:xfrm>
            <a:off x="594360" y="530352"/>
            <a:ext cx="2148840" cy="310896"/>
          </a:xfrm>
          <a:prstGeom prst="roundRect">
            <a:avLst>
              <a:gd name="adj" fmla="val 14706"/>
            </a:avLst>
          </a:prstGeom>
          <a:solidFill>
            <a:srgbClr val="916CFF">
              <a:alpha val="15000"/>
            </a:srgbClr>
          </a:solidFill>
          <a:ln w="12700">
            <a:solidFill>
              <a:srgbClr val="916CFF">
                <a:alpha val="75000"/>
              </a:srgbClr>
            </a:solidFill>
            <a:prstDash val="solid"/>
          </a:ln>
        </p:spPr>
      </p:sp>
      <p:sp>
        <p:nvSpPr>
          <p:cNvPr id="5" name="Text 2"/>
          <p:cNvSpPr/>
          <p:nvPr/>
        </p:nvSpPr>
        <p:spPr>
          <a:xfrm>
            <a:off x="667512" y="603504"/>
            <a:ext cx="2002536" cy="128016"/>
          </a:xfrm>
          <a:prstGeom prst="rect">
            <a:avLst/>
          </a:prstGeom>
          <a:noFill/>
          <a:ln/>
        </p:spPr>
        <p:txBody>
          <a:bodyPr wrap="square" lIns="0" tIns="0" rIns="0" bIns="0" rtlCol="0" anchor="ctr"/>
          <a:lstStyle/>
          <a:p>
            <a:pPr marL="0" indent="0" algn="ctr">
              <a:buNone/>
            </a:pPr>
            <a:r>
              <a:rPr lang="en-US" sz="880" b="1" dirty="0" smtClean="0">
                <a:solidFill>
                  <a:srgbClr val="916CFF"/>
                </a:solidFill>
              </a:rPr>
              <a:t>Ai HACKATHON</a:t>
            </a:r>
            <a:endParaRPr lang="en-US" sz="880" dirty="0"/>
          </a:p>
        </p:txBody>
      </p:sp>
      <p:sp>
        <p:nvSpPr>
          <p:cNvPr id="6" name="Text 3"/>
          <p:cNvSpPr/>
          <p:nvPr/>
        </p:nvSpPr>
        <p:spPr>
          <a:xfrm>
            <a:off x="594360" y="1225296"/>
            <a:ext cx="5577840" cy="566928"/>
          </a:xfrm>
          <a:prstGeom prst="rect">
            <a:avLst/>
          </a:prstGeom>
          <a:noFill/>
          <a:ln/>
        </p:spPr>
        <p:txBody>
          <a:bodyPr wrap="square" lIns="0" tIns="0" rIns="0" bIns="0" rtlCol="0" anchor="ctr"/>
          <a:lstStyle/>
          <a:p>
            <a:pPr marL="0" indent="0">
              <a:buNone/>
            </a:pPr>
            <a:r>
              <a:rPr lang="en-US" sz="3400" b="1" dirty="0">
                <a:solidFill>
                  <a:srgbClr val="F4F8FC"/>
                </a:solidFill>
              </a:rPr>
              <a:t>API Flow Agent</a:t>
            </a:r>
            <a:endParaRPr lang="en-US" sz="3400" dirty="0"/>
          </a:p>
        </p:txBody>
      </p:sp>
      <p:sp>
        <p:nvSpPr>
          <p:cNvPr id="7" name="Text 4"/>
          <p:cNvSpPr/>
          <p:nvPr/>
        </p:nvSpPr>
        <p:spPr>
          <a:xfrm>
            <a:off x="612648" y="1993392"/>
            <a:ext cx="5440680" cy="822960"/>
          </a:xfrm>
          <a:prstGeom prst="rect">
            <a:avLst/>
          </a:prstGeom>
          <a:noFill/>
          <a:ln/>
        </p:spPr>
        <p:txBody>
          <a:bodyPr wrap="square" lIns="0" tIns="0" rIns="0" bIns="0" rtlCol="0" anchor="ctr"/>
          <a:lstStyle/>
          <a:p>
            <a:pPr marL="0" indent="0">
              <a:buNone/>
            </a:pPr>
            <a:r>
              <a:rPr lang="en-US" sz="2100" b="1" dirty="0">
                <a:solidFill>
                  <a:srgbClr val="28D7F2"/>
                </a:solidFill>
              </a:rPr>
              <a:t>Biến source code Java/Spring thành tài liệu đặc tả và sequence diagram</a:t>
            </a:r>
            <a:endParaRPr lang="en-US" sz="2100" dirty="0"/>
          </a:p>
        </p:txBody>
      </p:sp>
      <p:sp>
        <p:nvSpPr>
          <p:cNvPr id="8" name="Text 5"/>
          <p:cNvSpPr/>
          <p:nvPr/>
        </p:nvSpPr>
        <p:spPr>
          <a:xfrm>
            <a:off x="612648" y="2971800"/>
            <a:ext cx="5029200" cy="320040"/>
          </a:xfrm>
          <a:prstGeom prst="rect">
            <a:avLst/>
          </a:prstGeom>
          <a:noFill/>
          <a:ln/>
        </p:spPr>
        <p:txBody>
          <a:bodyPr wrap="square" lIns="0" tIns="0" rIns="0" bIns="0" rtlCol="0" anchor="ctr"/>
          <a:lstStyle/>
          <a:p>
            <a:pPr marL="0" indent="0">
              <a:buNone/>
            </a:pPr>
            <a:r>
              <a:rPr lang="en-US" sz="1600" dirty="0">
                <a:solidFill>
                  <a:srgbClr val="F4F8FC"/>
                </a:solidFill>
              </a:rPr>
              <a:t>Có dẫn chứng tới từng dòng code.</a:t>
            </a:r>
            <a:endParaRPr lang="en-US" sz="1600" dirty="0"/>
          </a:p>
        </p:txBody>
      </p:sp>
      <p:sp>
        <p:nvSpPr>
          <p:cNvPr id="9" name="Text 6"/>
          <p:cNvSpPr/>
          <p:nvPr/>
        </p:nvSpPr>
        <p:spPr>
          <a:xfrm>
            <a:off x="621792" y="3703320"/>
            <a:ext cx="5120640" cy="274320"/>
          </a:xfrm>
          <a:prstGeom prst="rect">
            <a:avLst/>
          </a:prstGeom>
          <a:noFill/>
          <a:ln/>
        </p:spPr>
        <p:txBody>
          <a:bodyPr wrap="square" lIns="0" tIns="0" rIns="0" bIns="0" rtlCol="0" anchor="ctr"/>
          <a:lstStyle/>
          <a:p>
            <a:pPr marL="0" indent="0">
              <a:buNone/>
            </a:pPr>
            <a:r>
              <a:rPr lang="en-US" sz="1200" dirty="0">
                <a:solidFill>
                  <a:srgbClr val="A8B7C8"/>
                </a:solidFill>
              </a:rPr>
              <a:t>Chạy trên GreenNode MaaS + GreenNode AgentBase</a:t>
            </a:r>
            <a:endParaRPr lang="en-US" sz="1200" dirty="0"/>
          </a:p>
        </p:txBody>
      </p:sp>
      <p:sp>
        <p:nvSpPr>
          <p:cNvPr id="10" name="Shape 7"/>
          <p:cNvSpPr/>
          <p:nvPr/>
        </p:nvSpPr>
        <p:spPr>
          <a:xfrm>
            <a:off x="621792" y="4315968"/>
            <a:ext cx="2468880" cy="347472"/>
          </a:xfrm>
          <a:prstGeom prst="roundRect">
            <a:avLst>
              <a:gd name="adj" fmla="val 13158"/>
            </a:avLst>
          </a:prstGeom>
          <a:solidFill>
            <a:srgbClr val="FFB84D">
              <a:alpha val="18000"/>
            </a:srgbClr>
          </a:solidFill>
          <a:ln w="12700">
            <a:solidFill>
              <a:srgbClr val="FFB84D"/>
            </a:solidFill>
            <a:prstDash val="solid"/>
          </a:ln>
        </p:spPr>
      </p:sp>
      <p:sp>
        <p:nvSpPr>
          <p:cNvPr id="11" name="Text 8"/>
          <p:cNvSpPr/>
          <p:nvPr/>
        </p:nvSpPr>
        <p:spPr>
          <a:xfrm>
            <a:off x="694944" y="4407408"/>
            <a:ext cx="2322576" cy="146304"/>
          </a:xfrm>
          <a:prstGeom prst="rect">
            <a:avLst/>
          </a:prstGeom>
          <a:noFill/>
          <a:ln/>
        </p:spPr>
        <p:txBody>
          <a:bodyPr wrap="square" lIns="0" tIns="0" rIns="0" bIns="0" rtlCol="0" anchor="ctr"/>
          <a:lstStyle/>
          <a:p>
            <a:pPr marL="0" indent="0" algn="ctr">
              <a:buNone/>
            </a:pPr>
            <a:r>
              <a:rPr lang="en-US" sz="900" b="1" dirty="0">
                <a:solidFill>
                  <a:srgbClr val="FFB84D"/>
                </a:solidFill>
              </a:rPr>
              <a:t>CẦN ĐIỀN: Tên đội / thành viên</a:t>
            </a:r>
            <a:endParaRPr lang="en-US" sz="900" dirty="0"/>
          </a:p>
        </p:txBody>
      </p:sp>
      <p:sp>
        <p:nvSpPr>
          <p:cNvPr id="12" name="Shape 9"/>
          <p:cNvSpPr/>
          <p:nvPr/>
        </p:nvSpPr>
        <p:spPr>
          <a:xfrm>
            <a:off x="3273552" y="4315968"/>
            <a:ext cx="2148840" cy="347472"/>
          </a:xfrm>
          <a:prstGeom prst="roundRect">
            <a:avLst>
              <a:gd name="adj" fmla="val 13158"/>
            </a:avLst>
          </a:prstGeom>
          <a:solidFill>
            <a:srgbClr val="FFB84D">
              <a:alpha val="18000"/>
            </a:srgbClr>
          </a:solidFill>
          <a:ln w="12700">
            <a:solidFill>
              <a:srgbClr val="FFB84D"/>
            </a:solidFill>
            <a:prstDash val="solid"/>
          </a:ln>
        </p:spPr>
      </p:sp>
      <p:sp>
        <p:nvSpPr>
          <p:cNvPr id="13" name="Text 10"/>
          <p:cNvSpPr/>
          <p:nvPr/>
        </p:nvSpPr>
        <p:spPr>
          <a:xfrm>
            <a:off x="3346704" y="4407408"/>
            <a:ext cx="2002536" cy="146304"/>
          </a:xfrm>
          <a:prstGeom prst="rect">
            <a:avLst/>
          </a:prstGeom>
          <a:noFill/>
          <a:ln/>
        </p:spPr>
        <p:txBody>
          <a:bodyPr wrap="square" lIns="0" tIns="0" rIns="0" bIns="0" rtlCol="0" anchor="ctr"/>
          <a:lstStyle/>
          <a:p>
            <a:pPr marL="0" indent="0" algn="ctr">
              <a:buNone/>
            </a:pPr>
            <a:r>
              <a:rPr lang="en-US" sz="900" b="1" dirty="0">
                <a:solidFill>
                  <a:srgbClr val="FFB84D"/>
                </a:solidFill>
              </a:rPr>
              <a:t>CẦN ĐIỀN: Link demo / QR</a:t>
            </a:r>
            <a:endParaRPr lang="en-US" sz="900" dirty="0"/>
          </a:p>
        </p:txBody>
      </p:sp>
      <p:sp>
        <p:nvSpPr>
          <p:cNvPr id="14" name="Text 11"/>
          <p:cNvSpPr/>
          <p:nvPr/>
        </p:nvSpPr>
        <p:spPr>
          <a:xfrm>
            <a:off x="640080" y="5166360"/>
            <a:ext cx="5166360" cy="640080"/>
          </a:xfrm>
          <a:prstGeom prst="rect">
            <a:avLst/>
          </a:prstGeom>
          <a:noFill/>
          <a:ln/>
        </p:spPr>
        <p:txBody>
          <a:bodyPr wrap="square" lIns="0" tIns="0" rIns="0" bIns="0" rtlCol="0" anchor="ctr"/>
          <a:lstStyle/>
          <a:p>
            <a:pPr marL="0" indent="0">
              <a:buNone/>
            </a:pPr>
            <a:r>
              <a:rPr lang="en-US" sz="1400" b="1" i="1" dirty="0">
                <a:solidFill>
                  <a:srgbClr val="37D996"/>
                </a:solidFill>
              </a:rPr>
              <a:t>“Không phải chatbot nói về code. Đây là công cụ đọc code thay con người.”</a:t>
            </a:r>
            <a:endParaRPr lang="en-US" sz="1400" dirty="0"/>
          </a:p>
        </p:txBody>
      </p:sp>
      <p:sp>
        <p:nvSpPr>
          <p:cNvPr id="25" name="Slide Number Placeholder 0"/>
          <p:cNvSpPr>
            <a:spLocks noGrp="1"/>
          </p:cNvSpPr>
          <p:nvPr>
            <p:ph type="sldNum" sz="quarter" idx="4294967295"/>
          </p:nvPr>
        </p:nvSpPr>
        <p:spPr>
          <a:xfrm>
            <a:off x="11768328" y="6492240"/>
            <a:ext cx="182880" cy="137160"/>
          </a:xfrm>
          <a:prstGeom prst="rect">
            <a:avLst/>
          </a:prstGeom>
          <a:extLst>
            <a:ext uri="{C572A759-6A51-4108-AA02-DFA0A04FC94B}">
              <ma14:wrappingTextBoxFlag xmlns:ma14="http://schemas.microsoft.com/office/mac/drawingml/2011/main" xmlns="" val="0"/>
            </a:ext>
          </a:extLst>
        </p:spPr>
        <p:txBody>
          <a:bodyPr lIns="0" tIns="0" rIns="0" bIns="0"/>
          <a:lstStyle>
            <a:lvl1pPr>
              <a:defRPr sz="800">
                <a:solidFill>
                  <a:srgbClr val="667D96"/>
                </a:solidFill>
              </a:defRPr>
            </a:lvl1pPr>
          </a:lstStyle>
          <a:p>
            <a:pPr algn="l"/>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1" cy="1"/>
          <a:chOff x="0" y="0"/>
          <a:chExt cx="1" cy="1"/>
        </a:xfrm>
      </p:grpSpPr>
      <p:sp>
        <p:nvSpPr>
          <p:cNvPr id="2" name="Text 0"/>
          <p:cNvSpPr/>
          <p:nvPr/>
        </p:nvSpPr>
        <p:spPr>
          <a:xfrm>
            <a:off x="512064" y="356616"/>
            <a:ext cx="4572000" cy="182880"/>
          </a:xfrm>
          <a:prstGeom prst="rect">
            <a:avLst/>
          </a:prstGeom>
          <a:noFill/>
          <a:ln/>
        </p:spPr>
        <p:txBody>
          <a:bodyPr wrap="square" lIns="0" tIns="0" rIns="0" bIns="0" rtlCol="0" anchor="ctr"/>
          <a:lstStyle/>
          <a:p>
            <a:pPr marL="0" indent="0">
              <a:buNone/>
            </a:pPr>
            <a:r>
              <a:rPr lang="en-US" sz="850" b="1" kern="0" spc="170" dirty="0">
                <a:solidFill>
                  <a:srgbClr val="28D7F2"/>
                </a:solidFill>
              </a:rPr>
              <a:t>01 | VẤN ĐỀ</a:t>
            </a:r>
            <a:endParaRPr lang="en-US" sz="850" dirty="0"/>
          </a:p>
        </p:txBody>
      </p:sp>
      <p:sp>
        <p:nvSpPr>
          <p:cNvPr id="3" name="Text 1"/>
          <p:cNvSpPr/>
          <p:nvPr/>
        </p:nvSpPr>
        <p:spPr>
          <a:xfrm>
            <a:off x="512064" y="640080"/>
            <a:ext cx="11064240" cy="475488"/>
          </a:xfrm>
          <a:prstGeom prst="rect">
            <a:avLst/>
          </a:prstGeom>
          <a:noFill/>
          <a:ln/>
        </p:spPr>
        <p:txBody>
          <a:bodyPr wrap="square" lIns="0" tIns="0" rIns="0" bIns="0" rtlCol="0" anchor="ctr"/>
          <a:lstStyle/>
          <a:p>
            <a:pPr marL="0" indent="0">
              <a:buNone/>
            </a:pPr>
            <a:r>
              <a:rPr lang="en-US" sz="2600" b="1" dirty="0">
                <a:solidFill>
                  <a:srgbClr val="F4F8FC"/>
                </a:solidFill>
              </a:rPr>
              <a:t>Không ai biết API đó thực sự làm gì nữa.</a:t>
            </a:r>
            <a:endParaRPr lang="en-US" sz="2600" dirty="0"/>
          </a:p>
        </p:txBody>
      </p:sp>
      <p:sp>
        <p:nvSpPr>
          <p:cNvPr id="4" name="Text 2"/>
          <p:cNvSpPr/>
          <p:nvPr/>
        </p:nvSpPr>
        <p:spPr>
          <a:xfrm>
            <a:off x="530352" y="1161288"/>
            <a:ext cx="10972800" cy="310896"/>
          </a:xfrm>
          <a:prstGeom prst="rect">
            <a:avLst/>
          </a:prstGeom>
          <a:noFill/>
          <a:ln/>
        </p:spPr>
        <p:txBody>
          <a:bodyPr wrap="square" lIns="0" tIns="0" rIns="0" bIns="0" rtlCol="0" anchor="ctr"/>
          <a:lstStyle/>
          <a:p>
            <a:pPr marL="0" indent="0">
              <a:buNone/>
            </a:pPr>
            <a:r>
              <a:rPr lang="en-US" sz="1200" dirty="0" err="1">
                <a:solidFill>
                  <a:srgbClr val="A8B7C8"/>
                </a:solidFill>
              </a:rPr>
              <a:t>T</a:t>
            </a:r>
            <a:r>
              <a:rPr lang="en-US" sz="1200" dirty="0" err="1" smtClean="0">
                <a:solidFill>
                  <a:srgbClr val="A8B7C8"/>
                </a:solidFill>
              </a:rPr>
              <a:t>hời</a:t>
            </a:r>
            <a:r>
              <a:rPr lang="en-US" sz="1200" dirty="0" smtClean="0">
                <a:solidFill>
                  <a:srgbClr val="A8B7C8"/>
                </a:solidFill>
              </a:rPr>
              <a:t> </a:t>
            </a:r>
            <a:r>
              <a:rPr lang="en-US" sz="1200" dirty="0" err="1" smtClean="0">
                <a:solidFill>
                  <a:srgbClr val="A8B7C8"/>
                </a:solidFill>
              </a:rPr>
              <a:t>gian</a:t>
            </a:r>
            <a:r>
              <a:rPr lang="en-US" sz="1200" dirty="0" smtClean="0">
                <a:solidFill>
                  <a:srgbClr val="A8B7C8"/>
                </a:solidFill>
              </a:rPr>
              <a:t> </a:t>
            </a:r>
            <a:r>
              <a:rPr lang="en-US" sz="1200" dirty="0" err="1" smtClean="0">
                <a:solidFill>
                  <a:srgbClr val="A8B7C8"/>
                </a:solidFill>
              </a:rPr>
              <a:t>bị</a:t>
            </a:r>
            <a:r>
              <a:rPr lang="en-US" sz="1200" dirty="0" smtClean="0">
                <a:solidFill>
                  <a:srgbClr val="A8B7C8"/>
                </a:solidFill>
              </a:rPr>
              <a:t> </a:t>
            </a:r>
            <a:r>
              <a:rPr lang="en-US" sz="1200" dirty="0" err="1" smtClean="0">
                <a:solidFill>
                  <a:srgbClr val="A8B7C8"/>
                </a:solidFill>
              </a:rPr>
              <a:t>lãng</a:t>
            </a:r>
            <a:r>
              <a:rPr lang="en-US" sz="1200" dirty="0" smtClean="0">
                <a:solidFill>
                  <a:srgbClr val="A8B7C8"/>
                </a:solidFill>
              </a:rPr>
              <a:t> </a:t>
            </a:r>
            <a:r>
              <a:rPr lang="en-US" sz="1200" dirty="0" err="1" smtClean="0">
                <a:solidFill>
                  <a:srgbClr val="A8B7C8"/>
                </a:solidFill>
              </a:rPr>
              <a:t>phí</a:t>
            </a:r>
            <a:r>
              <a:rPr lang="en-US" sz="1200" dirty="0" smtClean="0">
                <a:solidFill>
                  <a:srgbClr val="A8B7C8"/>
                </a:solidFill>
              </a:rPr>
              <a:t> ở</a:t>
            </a:r>
            <a:r>
              <a:rPr lang="en-US" sz="1200" dirty="0" smtClean="0">
                <a:solidFill>
                  <a:srgbClr val="A8B7C8"/>
                </a:solidFill>
              </a:rPr>
              <a:t> </a:t>
            </a:r>
            <a:r>
              <a:rPr lang="en-US" sz="1200" dirty="0" err="1" smtClean="0">
                <a:solidFill>
                  <a:srgbClr val="A8B7C8"/>
                </a:solidFill>
              </a:rPr>
              <a:t>nhiều</a:t>
            </a:r>
            <a:r>
              <a:rPr lang="en-US" sz="1200" dirty="0" smtClean="0">
                <a:solidFill>
                  <a:srgbClr val="A8B7C8"/>
                </a:solidFill>
              </a:rPr>
              <a:t> </a:t>
            </a:r>
            <a:r>
              <a:rPr lang="en-US" sz="1200" dirty="0" err="1" smtClean="0">
                <a:solidFill>
                  <a:srgbClr val="A8B7C8"/>
                </a:solidFill>
              </a:rPr>
              <a:t>người</a:t>
            </a:r>
            <a:r>
              <a:rPr lang="en-US" sz="1200" dirty="0" smtClean="0">
                <a:solidFill>
                  <a:srgbClr val="A8B7C8"/>
                </a:solidFill>
              </a:rPr>
              <a:t> </a:t>
            </a:r>
            <a:r>
              <a:rPr lang="en-US" sz="1200" dirty="0" err="1" smtClean="0">
                <a:solidFill>
                  <a:srgbClr val="A8B7C8"/>
                </a:solidFill>
              </a:rPr>
              <a:t>bởi</a:t>
            </a:r>
            <a:r>
              <a:rPr lang="en-US" sz="1200" dirty="0" smtClean="0">
                <a:solidFill>
                  <a:srgbClr val="A8B7C8"/>
                </a:solidFill>
              </a:rPr>
              <a:t> 1 </a:t>
            </a:r>
            <a:r>
              <a:rPr lang="en-US" sz="1200" dirty="0" err="1" smtClean="0">
                <a:solidFill>
                  <a:srgbClr val="A8B7C8"/>
                </a:solidFill>
              </a:rPr>
              <a:t>công</a:t>
            </a:r>
            <a:r>
              <a:rPr lang="en-US" sz="1200" dirty="0" smtClean="0">
                <a:solidFill>
                  <a:srgbClr val="A8B7C8"/>
                </a:solidFill>
              </a:rPr>
              <a:t> </a:t>
            </a:r>
            <a:r>
              <a:rPr lang="en-US" sz="1200" dirty="0" err="1" smtClean="0">
                <a:solidFill>
                  <a:srgbClr val="A8B7C8"/>
                </a:solidFill>
              </a:rPr>
              <a:t>việc</a:t>
            </a:r>
            <a:endParaRPr lang="en-US" sz="1200" dirty="0"/>
          </a:p>
        </p:txBody>
      </p:sp>
      <p:pic>
        <p:nvPicPr>
          <p:cNvPr id="5" name="Image 0" descr="/mnt/data/0e90b146db.png"/>
          <p:cNvPicPr>
            <a:picLocks noChangeAspect="1"/>
          </p:cNvPicPr>
          <p:nvPr/>
        </p:nvPicPr>
        <p:blipFill>
          <a:blip r:embed="rId3"/>
          <a:srcRect l="13004" r="13004"/>
          <a:stretch/>
        </p:blipFill>
        <p:spPr>
          <a:xfrm>
            <a:off x="7086600" y="1591056"/>
            <a:ext cx="4617720" cy="4160520"/>
          </a:xfrm>
          <a:prstGeom prst="rect">
            <a:avLst/>
          </a:prstGeom>
        </p:spPr>
      </p:pic>
      <p:sp>
        <p:nvSpPr>
          <p:cNvPr id="6" name="Shape 3"/>
          <p:cNvSpPr/>
          <p:nvPr/>
        </p:nvSpPr>
        <p:spPr>
          <a:xfrm>
            <a:off x="594360" y="1709928"/>
            <a:ext cx="5989320" cy="841248"/>
          </a:xfrm>
          <a:prstGeom prst="roundRect">
            <a:avLst>
              <a:gd name="adj" fmla="val 6522"/>
            </a:avLst>
          </a:prstGeom>
          <a:solidFill>
            <a:srgbClr val="0D1B2B"/>
          </a:solidFill>
          <a:ln w="12700">
            <a:solidFill>
              <a:srgbClr val="29435F"/>
            </a:solidFill>
            <a:prstDash val="solid"/>
          </a:ln>
          <a:effectLst>
            <a:outerShdw blurRad="19050" dist="8890" dir="2700000" algn="bl" rotWithShape="0">
              <a:srgbClr val="000000">
                <a:alpha val="18000"/>
              </a:srgbClr>
            </a:outerShdw>
          </a:effectLst>
        </p:spPr>
      </p:sp>
      <p:sp>
        <p:nvSpPr>
          <p:cNvPr id="7" name="Shape 4"/>
          <p:cNvSpPr/>
          <p:nvPr/>
        </p:nvSpPr>
        <p:spPr>
          <a:xfrm>
            <a:off x="594360" y="1709928"/>
            <a:ext cx="50292" cy="841248"/>
          </a:xfrm>
          <a:prstGeom prst="rect">
            <a:avLst/>
          </a:prstGeom>
          <a:solidFill>
            <a:srgbClr val="FF6868"/>
          </a:solidFill>
          <a:ln w="12700">
            <a:solidFill>
              <a:srgbClr val="FF6868"/>
            </a:solidFill>
            <a:prstDash val="solid"/>
          </a:ln>
        </p:spPr>
      </p:sp>
      <p:sp>
        <p:nvSpPr>
          <p:cNvPr id="8" name="Text 5"/>
          <p:cNvSpPr/>
          <p:nvPr/>
        </p:nvSpPr>
        <p:spPr>
          <a:xfrm>
            <a:off x="777240" y="1865376"/>
            <a:ext cx="5641848" cy="274320"/>
          </a:xfrm>
          <a:prstGeom prst="rect">
            <a:avLst/>
          </a:prstGeom>
          <a:noFill/>
          <a:ln/>
        </p:spPr>
        <p:txBody>
          <a:bodyPr wrap="square" lIns="0" tIns="0" rIns="0" bIns="0" rtlCol="0" anchor="ctr"/>
          <a:lstStyle/>
          <a:p>
            <a:pPr marL="0" indent="0">
              <a:buNone/>
            </a:pPr>
            <a:r>
              <a:rPr lang="en-US" sz="1450" b="1" dirty="0">
                <a:solidFill>
                  <a:srgbClr val="F4F8FC"/>
                </a:solidFill>
              </a:rPr>
              <a:t>Tài liệu đã dừng lại</a:t>
            </a:r>
            <a:endParaRPr lang="en-US" sz="1450" dirty="0"/>
          </a:p>
        </p:txBody>
      </p:sp>
      <p:sp>
        <p:nvSpPr>
          <p:cNvPr id="9" name="Text 6"/>
          <p:cNvSpPr/>
          <p:nvPr/>
        </p:nvSpPr>
        <p:spPr>
          <a:xfrm>
            <a:off x="777240" y="2231136"/>
            <a:ext cx="5641848" cy="201168"/>
          </a:xfrm>
          <a:prstGeom prst="rect">
            <a:avLst/>
          </a:prstGeom>
          <a:noFill/>
          <a:ln/>
        </p:spPr>
        <p:txBody>
          <a:bodyPr wrap="square" lIns="127" tIns="127" rIns="127" bIns="127" rtlCol="0" anchor="ctr"/>
          <a:lstStyle/>
          <a:p>
            <a:pPr marL="0" indent="0">
              <a:buNone/>
            </a:pPr>
            <a:r>
              <a:rPr lang="en-US" sz="1050" dirty="0">
                <a:solidFill>
                  <a:srgbClr val="A8B7C8"/>
                </a:solidFill>
              </a:rPr>
              <a:t>Core system qua nhiều thế hệ developer, nhưng tài liệu vẫn ở phiên bản cũ.</a:t>
            </a:r>
            <a:endParaRPr lang="en-US" sz="1050" dirty="0"/>
          </a:p>
        </p:txBody>
      </p:sp>
      <p:sp>
        <p:nvSpPr>
          <p:cNvPr id="10" name="Shape 7"/>
          <p:cNvSpPr/>
          <p:nvPr/>
        </p:nvSpPr>
        <p:spPr>
          <a:xfrm>
            <a:off x="594360" y="2697480"/>
            <a:ext cx="5989320" cy="841248"/>
          </a:xfrm>
          <a:prstGeom prst="roundRect">
            <a:avLst>
              <a:gd name="adj" fmla="val 6522"/>
            </a:avLst>
          </a:prstGeom>
          <a:solidFill>
            <a:srgbClr val="0D1B2B"/>
          </a:solidFill>
          <a:ln w="12700">
            <a:solidFill>
              <a:srgbClr val="29435F"/>
            </a:solidFill>
            <a:prstDash val="solid"/>
          </a:ln>
          <a:effectLst>
            <a:outerShdw blurRad="19050" dist="8890" dir="2700000" algn="bl" rotWithShape="0">
              <a:srgbClr val="000000">
                <a:alpha val="18000"/>
              </a:srgbClr>
            </a:outerShdw>
          </a:effectLst>
        </p:spPr>
      </p:sp>
      <p:sp>
        <p:nvSpPr>
          <p:cNvPr id="11" name="Shape 8"/>
          <p:cNvSpPr/>
          <p:nvPr/>
        </p:nvSpPr>
        <p:spPr>
          <a:xfrm>
            <a:off x="594360" y="2697480"/>
            <a:ext cx="50292" cy="841248"/>
          </a:xfrm>
          <a:prstGeom prst="rect">
            <a:avLst/>
          </a:prstGeom>
          <a:solidFill>
            <a:srgbClr val="FFB84D"/>
          </a:solidFill>
          <a:ln w="12700">
            <a:solidFill>
              <a:srgbClr val="FFB84D"/>
            </a:solidFill>
            <a:prstDash val="solid"/>
          </a:ln>
        </p:spPr>
      </p:sp>
      <p:sp>
        <p:nvSpPr>
          <p:cNvPr id="12" name="Text 9"/>
          <p:cNvSpPr/>
          <p:nvPr/>
        </p:nvSpPr>
        <p:spPr>
          <a:xfrm>
            <a:off x="777240" y="2852928"/>
            <a:ext cx="5641848" cy="274320"/>
          </a:xfrm>
          <a:prstGeom prst="rect">
            <a:avLst/>
          </a:prstGeom>
          <a:noFill/>
          <a:ln/>
        </p:spPr>
        <p:txBody>
          <a:bodyPr wrap="square" lIns="0" tIns="0" rIns="0" bIns="0" rtlCol="0" anchor="ctr"/>
          <a:lstStyle/>
          <a:p>
            <a:pPr marL="0" indent="0">
              <a:buNone/>
            </a:pPr>
            <a:r>
              <a:rPr lang="en-US" sz="1450" b="1" dirty="0">
                <a:solidFill>
                  <a:srgbClr val="F4F8FC"/>
                </a:solidFill>
              </a:rPr>
              <a:t>BA phải chờ dev</a:t>
            </a:r>
            <a:endParaRPr lang="en-US" sz="1450" dirty="0"/>
          </a:p>
        </p:txBody>
      </p:sp>
      <p:sp>
        <p:nvSpPr>
          <p:cNvPr id="13" name="Text 10"/>
          <p:cNvSpPr/>
          <p:nvPr/>
        </p:nvSpPr>
        <p:spPr>
          <a:xfrm>
            <a:off x="777240" y="3218688"/>
            <a:ext cx="5641848" cy="201168"/>
          </a:xfrm>
          <a:prstGeom prst="rect">
            <a:avLst/>
          </a:prstGeom>
          <a:noFill/>
          <a:ln/>
        </p:spPr>
        <p:txBody>
          <a:bodyPr wrap="square" lIns="127" tIns="127" rIns="127" bIns="127" rtlCol="0" anchor="ctr"/>
          <a:lstStyle/>
          <a:p>
            <a:pPr marL="0" indent="0">
              <a:buNone/>
            </a:pPr>
            <a:r>
              <a:rPr lang="en-US" sz="1050" dirty="0">
                <a:solidFill>
                  <a:srgbClr val="A8B7C8"/>
                </a:solidFill>
              </a:rPr>
              <a:t>Để mô tả hiện trạng, BA phải tìm đúng người còn nhớ hệ thống.</a:t>
            </a:r>
            <a:endParaRPr lang="en-US" sz="1050" dirty="0"/>
          </a:p>
        </p:txBody>
      </p:sp>
      <p:sp>
        <p:nvSpPr>
          <p:cNvPr id="14" name="Shape 11"/>
          <p:cNvSpPr/>
          <p:nvPr/>
        </p:nvSpPr>
        <p:spPr>
          <a:xfrm>
            <a:off x="594360" y="3685032"/>
            <a:ext cx="5989320" cy="841248"/>
          </a:xfrm>
          <a:prstGeom prst="roundRect">
            <a:avLst>
              <a:gd name="adj" fmla="val 6522"/>
            </a:avLst>
          </a:prstGeom>
          <a:solidFill>
            <a:srgbClr val="0D1B2B"/>
          </a:solidFill>
          <a:ln w="12700">
            <a:solidFill>
              <a:srgbClr val="29435F"/>
            </a:solidFill>
            <a:prstDash val="solid"/>
          </a:ln>
          <a:effectLst>
            <a:outerShdw blurRad="19050" dist="8890" dir="2700000" algn="bl" rotWithShape="0">
              <a:srgbClr val="000000">
                <a:alpha val="18000"/>
              </a:srgbClr>
            </a:outerShdw>
          </a:effectLst>
        </p:spPr>
      </p:sp>
      <p:sp>
        <p:nvSpPr>
          <p:cNvPr id="15" name="Shape 12"/>
          <p:cNvSpPr/>
          <p:nvPr/>
        </p:nvSpPr>
        <p:spPr>
          <a:xfrm>
            <a:off x="594360" y="3685032"/>
            <a:ext cx="50292" cy="841248"/>
          </a:xfrm>
          <a:prstGeom prst="rect">
            <a:avLst/>
          </a:prstGeom>
          <a:solidFill>
            <a:srgbClr val="916CFF"/>
          </a:solidFill>
          <a:ln w="12700">
            <a:solidFill>
              <a:srgbClr val="916CFF"/>
            </a:solidFill>
            <a:prstDash val="solid"/>
          </a:ln>
        </p:spPr>
      </p:sp>
      <p:sp>
        <p:nvSpPr>
          <p:cNvPr id="16" name="Text 13"/>
          <p:cNvSpPr/>
          <p:nvPr/>
        </p:nvSpPr>
        <p:spPr>
          <a:xfrm>
            <a:off x="777240" y="3840480"/>
            <a:ext cx="5641848" cy="274320"/>
          </a:xfrm>
          <a:prstGeom prst="rect">
            <a:avLst/>
          </a:prstGeom>
          <a:noFill/>
          <a:ln/>
        </p:spPr>
        <p:txBody>
          <a:bodyPr wrap="square" lIns="0" tIns="0" rIns="0" bIns="0" rtlCol="0" anchor="ctr"/>
          <a:lstStyle/>
          <a:p>
            <a:pPr marL="0" indent="0">
              <a:buNone/>
            </a:pPr>
            <a:r>
              <a:rPr lang="en-US" sz="1450" b="1" dirty="0">
                <a:solidFill>
                  <a:srgbClr val="F4F8FC"/>
                </a:solidFill>
              </a:rPr>
              <a:t>Dev senior bị ngắt việc</a:t>
            </a:r>
            <a:endParaRPr lang="en-US" sz="1450" dirty="0"/>
          </a:p>
        </p:txBody>
      </p:sp>
      <p:sp>
        <p:nvSpPr>
          <p:cNvPr id="17" name="Text 14"/>
          <p:cNvSpPr/>
          <p:nvPr/>
        </p:nvSpPr>
        <p:spPr>
          <a:xfrm>
            <a:off x="777240" y="4206240"/>
            <a:ext cx="5641848" cy="201168"/>
          </a:xfrm>
          <a:prstGeom prst="rect">
            <a:avLst/>
          </a:prstGeom>
          <a:noFill/>
          <a:ln/>
        </p:spPr>
        <p:txBody>
          <a:bodyPr wrap="square" lIns="127" tIns="127" rIns="127" bIns="127" rtlCol="0" anchor="ctr"/>
          <a:lstStyle/>
          <a:p>
            <a:pPr marL="0" indent="0">
              <a:buNone/>
            </a:pPr>
            <a:r>
              <a:rPr lang="en-US" sz="1050" dirty="0">
                <a:solidFill>
                  <a:srgbClr val="A8B7C8"/>
                </a:solidFill>
              </a:rPr>
              <a:t>Mở IDE, lần qua 10+ lớp chỉ để trả lời một câu hỏi lặp lại.</a:t>
            </a:r>
            <a:endParaRPr lang="en-US" sz="1050" dirty="0"/>
          </a:p>
        </p:txBody>
      </p:sp>
      <p:sp>
        <p:nvSpPr>
          <p:cNvPr id="18" name="Shape 15"/>
          <p:cNvSpPr/>
          <p:nvPr/>
        </p:nvSpPr>
        <p:spPr>
          <a:xfrm>
            <a:off x="594360" y="4672584"/>
            <a:ext cx="5989320" cy="841248"/>
          </a:xfrm>
          <a:prstGeom prst="roundRect">
            <a:avLst>
              <a:gd name="adj" fmla="val 6522"/>
            </a:avLst>
          </a:prstGeom>
          <a:solidFill>
            <a:srgbClr val="0D1B2B"/>
          </a:solidFill>
          <a:ln w="12700">
            <a:solidFill>
              <a:srgbClr val="29435F"/>
            </a:solidFill>
            <a:prstDash val="solid"/>
          </a:ln>
          <a:effectLst>
            <a:outerShdw blurRad="19050" dist="8890" dir="2700000" algn="bl" rotWithShape="0">
              <a:srgbClr val="000000">
                <a:alpha val="18000"/>
              </a:srgbClr>
            </a:outerShdw>
          </a:effectLst>
        </p:spPr>
      </p:sp>
      <p:sp>
        <p:nvSpPr>
          <p:cNvPr id="19" name="Shape 16"/>
          <p:cNvSpPr/>
          <p:nvPr/>
        </p:nvSpPr>
        <p:spPr>
          <a:xfrm>
            <a:off x="594360" y="4672584"/>
            <a:ext cx="50292" cy="841248"/>
          </a:xfrm>
          <a:prstGeom prst="rect">
            <a:avLst/>
          </a:prstGeom>
          <a:solidFill>
            <a:srgbClr val="28D7F2"/>
          </a:solidFill>
          <a:ln w="12700">
            <a:solidFill>
              <a:srgbClr val="28D7F2"/>
            </a:solidFill>
            <a:prstDash val="solid"/>
          </a:ln>
        </p:spPr>
      </p:sp>
      <p:sp>
        <p:nvSpPr>
          <p:cNvPr id="20" name="Text 17"/>
          <p:cNvSpPr/>
          <p:nvPr/>
        </p:nvSpPr>
        <p:spPr>
          <a:xfrm>
            <a:off x="777240" y="4828032"/>
            <a:ext cx="5641848" cy="274320"/>
          </a:xfrm>
          <a:prstGeom prst="rect">
            <a:avLst/>
          </a:prstGeom>
          <a:noFill/>
          <a:ln/>
        </p:spPr>
        <p:txBody>
          <a:bodyPr wrap="square" lIns="0" tIns="0" rIns="0" bIns="0" rtlCol="0" anchor="ctr"/>
          <a:lstStyle/>
          <a:p>
            <a:pPr marL="0" indent="0">
              <a:buNone/>
            </a:pPr>
            <a:r>
              <a:rPr lang="en-US" sz="1450" b="1" dirty="0">
                <a:solidFill>
                  <a:srgbClr val="F4F8FC"/>
                </a:solidFill>
              </a:rPr>
              <a:t>Release thiếu tự tin</a:t>
            </a:r>
            <a:endParaRPr lang="en-US" sz="1450" dirty="0"/>
          </a:p>
        </p:txBody>
      </p:sp>
      <p:sp>
        <p:nvSpPr>
          <p:cNvPr id="21" name="Text 18"/>
          <p:cNvSpPr/>
          <p:nvPr/>
        </p:nvSpPr>
        <p:spPr>
          <a:xfrm>
            <a:off x="777240" y="5193792"/>
            <a:ext cx="5641848" cy="201168"/>
          </a:xfrm>
          <a:prstGeom prst="rect">
            <a:avLst/>
          </a:prstGeom>
          <a:noFill/>
          <a:ln/>
        </p:spPr>
        <p:txBody>
          <a:bodyPr wrap="square" lIns="127" tIns="127" rIns="127" bIns="127" rtlCol="0" anchor="ctr"/>
          <a:lstStyle/>
          <a:p>
            <a:pPr marL="0" indent="0">
              <a:buNone/>
            </a:pPr>
            <a:r>
              <a:rPr lang="en-US" sz="1050" dirty="0">
                <a:solidFill>
                  <a:srgbClr val="A8B7C8"/>
                </a:solidFill>
              </a:rPr>
              <a:t>Impact analysis dựa vào trí nhớ nên không ai dám khẳng định vùng ảnh hưởng.</a:t>
            </a:r>
            <a:endParaRPr lang="en-US" sz="1050" dirty="0"/>
          </a:p>
        </p:txBody>
      </p:sp>
      <p:sp>
        <p:nvSpPr>
          <p:cNvPr id="25" name="Slide Number Placeholder 0"/>
          <p:cNvSpPr>
            <a:spLocks noGrp="1"/>
          </p:cNvSpPr>
          <p:nvPr>
            <p:ph type="sldNum" sz="quarter" idx="4294967295"/>
          </p:nvPr>
        </p:nvSpPr>
        <p:spPr>
          <a:xfrm>
            <a:off x="11768328" y="6492240"/>
            <a:ext cx="182880" cy="137160"/>
          </a:xfrm>
          <a:prstGeom prst="rect">
            <a:avLst/>
          </a:prstGeom>
          <a:extLst>
            <a:ext uri="{C572A759-6A51-4108-AA02-DFA0A04FC94B}">
              <ma14:wrappingTextBoxFlag xmlns:ma14="http://schemas.microsoft.com/office/mac/drawingml/2011/main" xmlns="" val="0"/>
            </a:ext>
          </a:extLst>
        </p:spPr>
        <p:txBody>
          <a:bodyPr lIns="0" tIns="0" rIns="0" bIns="0"/>
          <a:lstStyle>
            <a:lvl1pPr>
              <a:defRPr sz="800">
                <a:solidFill>
                  <a:srgbClr val="667D96"/>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1" cy="1"/>
          <a:chOff x="0" y="0"/>
          <a:chExt cx="1" cy="1"/>
        </a:xfrm>
      </p:grpSpPr>
      <p:sp>
        <p:nvSpPr>
          <p:cNvPr id="2" name="Text 0"/>
          <p:cNvSpPr/>
          <p:nvPr/>
        </p:nvSpPr>
        <p:spPr>
          <a:xfrm>
            <a:off x="512064" y="356616"/>
            <a:ext cx="4572000" cy="182880"/>
          </a:xfrm>
          <a:prstGeom prst="rect">
            <a:avLst/>
          </a:prstGeom>
          <a:noFill/>
          <a:ln/>
        </p:spPr>
        <p:txBody>
          <a:bodyPr wrap="square" lIns="0" tIns="0" rIns="0" bIns="0" rtlCol="0" anchor="ctr"/>
          <a:lstStyle/>
          <a:p>
            <a:pPr marL="0" indent="0">
              <a:buNone/>
            </a:pPr>
            <a:r>
              <a:rPr lang="en-US" sz="850" b="1" kern="0" spc="170" dirty="0">
                <a:solidFill>
                  <a:srgbClr val="28D7F2"/>
                </a:solidFill>
              </a:rPr>
              <a:t>03 | GIẢI PHÁP</a:t>
            </a:r>
            <a:endParaRPr lang="en-US" sz="850" dirty="0"/>
          </a:p>
        </p:txBody>
      </p:sp>
      <p:sp>
        <p:nvSpPr>
          <p:cNvPr id="3" name="Text 1"/>
          <p:cNvSpPr/>
          <p:nvPr/>
        </p:nvSpPr>
        <p:spPr>
          <a:xfrm>
            <a:off x="512064" y="640080"/>
            <a:ext cx="11064240" cy="475488"/>
          </a:xfrm>
          <a:prstGeom prst="rect">
            <a:avLst/>
          </a:prstGeom>
          <a:noFill/>
          <a:ln/>
        </p:spPr>
        <p:txBody>
          <a:bodyPr wrap="square" lIns="0" tIns="0" rIns="0" bIns="0" rtlCol="0" anchor="ctr"/>
          <a:lstStyle/>
          <a:p>
            <a:pPr marL="0" indent="0">
              <a:buNone/>
            </a:pPr>
            <a:r>
              <a:rPr lang="en-US" sz="2600" b="1" dirty="0">
                <a:solidFill>
                  <a:srgbClr val="F4F8FC"/>
                </a:solidFill>
              </a:rPr>
              <a:t>Phân tích tĩnh làm phần sự thật. LLM chỉ diễn giải và bị kiểm tra.</a:t>
            </a:r>
            <a:endParaRPr lang="en-US" sz="2600" dirty="0"/>
          </a:p>
        </p:txBody>
      </p:sp>
      <p:sp>
        <p:nvSpPr>
          <p:cNvPr id="4" name="Shape 2"/>
          <p:cNvSpPr/>
          <p:nvPr/>
        </p:nvSpPr>
        <p:spPr>
          <a:xfrm>
            <a:off x="640080" y="1600200"/>
            <a:ext cx="3017520" cy="1051560"/>
          </a:xfrm>
          <a:prstGeom prst="roundRect">
            <a:avLst>
              <a:gd name="adj" fmla="val 5217"/>
            </a:avLst>
          </a:prstGeom>
          <a:solidFill>
            <a:srgbClr val="12263D"/>
          </a:solidFill>
          <a:ln w="15240">
            <a:solidFill>
              <a:srgbClr val="28D7F2"/>
            </a:solidFill>
            <a:prstDash val="solid"/>
          </a:ln>
        </p:spPr>
      </p:sp>
      <p:sp>
        <p:nvSpPr>
          <p:cNvPr id="5" name="Text 3"/>
          <p:cNvSpPr/>
          <p:nvPr/>
        </p:nvSpPr>
        <p:spPr>
          <a:xfrm>
            <a:off x="868680" y="1810512"/>
            <a:ext cx="640080" cy="182880"/>
          </a:xfrm>
          <a:prstGeom prst="rect">
            <a:avLst/>
          </a:prstGeom>
          <a:noFill/>
          <a:ln/>
        </p:spPr>
        <p:txBody>
          <a:bodyPr wrap="square" lIns="0" tIns="0" rIns="0" bIns="0" rtlCol="0" anchor="ctr"/>
          <a:lstStyle/>
          <a:p>
            <a:pPr marL="0" indent="0">
              <a:buNone/>
            </a:pPr>
            <a:r>
              <a:rPr lang="en-US" sz="900" b="1" dirty="0">
                <a:solidFill>
                  <a:srgbClr val="28D7F2"/>
                </a:solidFill>
              </a:rPr>
              <a:t>INPUT</a:t>
            </a:r>
            <a:endParaRPr lang="en-US" sz="900" dirty="0"/>
          </a:p>
        </p:txBody>
      </p:sp>
      <p:sp>
        <p:nvSpPr>
          <p:cNvPr id="6" name="Text 4"/>
          <p:cNvSpPr/>
          <p:nvPr/>
        </p:nvSpPr>
        <p:spPr>
          <a:xfrm>
            <a:off x="868680" y="2121408"/>
            <a:ext cx="2514600" cy="274320"/>
          </a:xfrm>
          <a:prstGeom prst="rect">
            <a:avLst/>
          </a:prstGeom>
          <a:noFill/>
          <a:ln/>
        </p:spPr>
        <p:txBody>
          <a:bodyPr wrap="square" lIns="0" tIns="0" rIns="0" bIns="0" rtlCol="0" anchor="ctr"/>
          <a:lstStyle/>
          <a:p>
            <a:pPr marL="0" indent="0">
              <a:buNone/>
            </a:pPr>
            <a:r>
              <a:rPr lang="en-US" sz="1400" b="1" dirty="0">
                <a:solidFill>
                  <a:srgbClr val="F4F8FC"/>
                </a:solidFill>
              </a:rPr>
              <a:t>GitLab URL + HTTP method + API path</a:t>
            </a:r>
            <a:endParaRPr lang="en-US" sz="1400" dirty="0"/>
          </a:p>
        </p:txBody>
      </p:sp>
      <p:sp>
        <p:nvSpPr>
          <p:cNvPr id="7" name="Shape 5"/>
          <p:cNvSpPr/>
          <p:nvPr/>
        </p:nvSpPr>
        <p:spPr>
          <a:xfrm>
            <a:off x="3730752" y="2130552"/>
            <a:ext cx="594360" cy="1"/>
          </a:xfrm>
          <a:prstGeom prst="line">
            <a:avLst/>
          </a:prstGeom>
          <a:noFill/>
          <a:ln w="25400">
            <a:solidFill>
              <a:srgbClr val="28D7F2"/>
            </a:solidFill>
            <a:prstDash val="solid"/>
            <a:tailEnd type="triangle"/>
          </a:ln>
        </p:spPr>
      </p:sp>
      <p:sp>
        <p:nvSpPr>
          <p:cNvPr id="8" name="Shape 6"/>
          <p:cNvSpPr/>
          <p:nvPr/>
        </p:nvSpPr>
        <p:spPr>
          <a:xfrm>
            <a:off x="4443984" y="1581912"/>
            <a:ext cx="1097280" cy="1097280"/>
          </a:xfrm>
          <a:prstGeom prst="ellipse">
            <a:avLst/>
          </a:prstGeom>
          <a:solidFill>
            <a:srgbClr val="11334B"/>
          </a:solidFill>
          <a:ln w="19050">
            <a:solidFill>
              <a:srgbClr val="28D7F2"/>
            </a:solidFill>
            <a:prstDash val="solid"/>
          </a:ln>
        </p:spPr>
      </p:sp>
      <p:sp>
        <p:nvSpPr>
          <p:cNvPr id="9" name="Text 7"/>
          <p:cNvSpPr/>
          <p:nvPr/>
        </p:nvSpPr>
        <p:spPr>
          <a:xfrm>
            <a:off x="4608576" y="1975104"/>
            <a:ext cx="768096" cy="164592"/>
          </a:xfrm>
          <a:prstGeom prst="rect">
            <a:avLst/>
          </a:prstGeom>
          <a:noFill/>
          <a:ln/>
        </p:spPr>
        <p:txBody>
          <a:bodyPr wrap="square" lIns="0" tIns="0" rIns="0" bIns="0" rtlCol="0" anchor="ctr"/>
          <a:lstStyle/>
          <a:p>
            <a:pPr marL="0" indent="0" algn="ctr">
              <a:buNone/>
            </a:pPr>
            <a:r>
              <a:rPr lang="en-US" sz="1200" b="1" dirty="0">
                <a:solidFill>
                  <a:srgbClr val="28D7F2"/>
                </a:solidFill>
              </a:rPr>
              <a:t>AGENT</a:t>
            </a:r>
            <a:endParaRPr lang="en-US" sz="1200" dirty="0"/>
          </a:p>
        </p:txBody>
      </p:sp>
      <p:sp>
        <p:nvSpPr>
          <p:cNvPr id="10" name="Shape 8"/>
          <p:cNvSpPr/>
          <p:nvPr/>
        </p:nvSpPr>
        <p:spPr>
          <a:xfrm>
            <a:off x="5650992" y="2130552"/>
            <a:ext cx="594360" cy="1"/>
          </a:xfrm>
          <a:prstGeom prst="line">
            <a:avLst/>
          </a:prstGeom>
          <a:noFill/>
          <a:ln w="25400">
            <a:solidFill>
              <a:srgbClr val="28D7F2"/>
            </a:solidFill>
            <a:prstDash val="solid"/>
            <a:tailEnd type="triangle"/>
          </a:ln>
        </p:spPr>
      </p:sp>
      <p:sp>
        <p:nvSpPr>
          <p:cNvPr id="11" name="Shape 9"/>
          <p:cNvSpPr/>
          <p:nvPr/>
        </p:nvSpPr>
        <p:spPr>
          <a:xfrm>
            <a:off x="6355080" y="1600200"/>
            <a:ext cx="5166360" cy="1051560"/>
          </a:xfrm>
          <a:prstGeom prst="roundRect">
            <a:avLst>
              <a:gd name="adj" fmla="val 5217"/>
            </a:avLst>
          </a:prstGeom>
          <a:solidFill>
            <a:srgbClr val="12263D"/>
          </a:solidFill>
          <a:ln w="15240">
            <a:solidFill>
              <a:srgbClr val="37D996"/>
            </a:solidFill>
            <a:prstDash val="solid"/>
          </a:ln>
        </p:spPr>
      </p:sp>
      <p:sp>
        <p:nvSpPr>
          <p:cNvPr id="12" name="Text 10"/>
          <p:cNvSpPr/>
          <p:nvPr/>
        </p:nvSpPr>
        <p:spPr>
          <a:xfrm>
            <a:off x="6583680" y="1810512"/>
            <a:ext cx="731520" cy="182880"/>
          </a:xfrm>
          <a:prstGeom prst="rect">
            <a:avLst/>
          </a:prstGeom>
          <a:noFill/>
          <a:ln/>
        </p:spPr>
        <p:txBody>
          <a:bodyPr wrap="square" lIns="0" tIns="0" rIns="0" bIns="0" rtlCol="0" anchor="ctr"/>
          <a:lstStyle/>
          <a:p>
            <a:pPr marL="0" indent="0">
              <a:buNone/>
            </a:pPr>
            <a:r>
              <a:rPr lang="en-US" sz="900" b="1" dirty="0">
                <a:solidFill>
                  <a:srgbClr val="37D996"/>
                </a:solidFill>
              </a:rPr>
              <a:t>OUTPUT</a:t>
            </a:r>
            <a:endParaRPr lang="en-US" sz="900" dirty="0"/>
          </a:p>
        </p:txBody>
      </p:sp>
      <p:sp>
        <p:nvSpPr>
          <p:cNvPr id="13" name="Text 11"/>
          <p:cNvSpPr/>
          <p:nvPr/>
        </p:nvSpPr>
        <p:spPr>
          <a:xfrm>
            <a:off x="6583680" y="2121408"/>
            <a:ext cx="4617720" cy="274320"/>
          </a:xfrm>
          <a:prstGeom prst="rect">
            <a:avLst/>
          </a:prstGeom>
          <a:noFill/>
          <a:ln/>
        </p:spPr>
        <p:txBody>
          <a:bodyPr wrap="square" lIns="0" tIns="0" rIns="0" bIns="0" rtlCol="0" anchor="ctr"/>
          <a:lstStyle/>
          <a:p>
            <a:pPr marL="0" indent="0">
              <a:buNone/>
            </a:pPr>
            <a:r>
              <a:rPr lang="en-US" sz="1400" b="1" dirty="0">
                <a:solidFill>
                  <a:srgbClr val="F4F8FC"/>
                </a:solidFill>
              </a:rPr>
              <a:t>Đặc tả hiện trạng + diagram + evidence + câu hỏi</a:t>
            </a:r>
            <a:endParaRPr lang="en-US" sz="1400" dirty="0"/>
          </a:p>
        </p:txBody>
      </p:sp>
      <p:sp>
        <p:nvSpPr>
          <p:cNvPr id="14" name="Shape 12"/>
          <p:cNvSpPr/>
          <p:nvPr/>
        </p:nvSpPr>
        <p:spPr>
          <a:xfrm>
            <a:off x="640080" y="3154680"/>
            <a:ext cx="2514600" cy="1874520"/>
          </a:xfrm>
          <a:prstGeom prst="roundRect">
            <a:avLst>
              <a:gd name="adj" fmla="val 2927"/>
            </a:avLst>
          </a:prstGeom>
          <a:solidFill>
            <a:srgbClr val="0D1B2B"/>
          </a:solidFill>
          <a:ln w="12700">
            <a:solidFill>
              <a:srgbClr val="28D7F2"/>
            </a:solidFill>
            <a:prstDash val="solid"/>
          </a:ln>
        </p:spPr>
      </p:sp>
      <p:sp>
        <p:nvSpPr>
          <p:cNvPr id="15" name="Text 13"/>
          <p:cNvSpPr/>
          <p:nvPr/>
        </p:nvSpPr>
        <p:spPr>
          <a:xfrm>
            <a:off x="804672" y="3346704"/>
            <a:ext cx="365760" cy="182880"/>
          </a:xfrm>
          <a:prstGeom prst="rect">
            <a:avLst/>
          </a:prstGeom>
          <a:noFill/>
          <a:ln/>
        </p:spPr>
        <p:txBody>
          <a:bodyPr wrap="square" lIns="0" tIns="0" rIns="0" bIns="0" rtlCol="0" anchor="ctr"/>
          <a:lstStyle/>
          <a:p>
            <a:pPr marL="0" indent="0">
              <a:buNone/>
            </a:pPr>
            <a:r>
              <a:rPr lang="en-US" sz="1000" b="1" dirty="0">
                <a:solidFill>
                  <a:srgbClr val="28D7F2"/>
                </a:solidFill>
              </a:rPr>
              <a:t>01</a:t>
            </a:r>
            <a:endParaRPr lang="en-US" sz="1000" dirty="0"/>
          </a:p>
        </p:txBody>
      </p:sp>
      <p:sp>
        <p:nvSpPr>
          <p:cNvPr id="16" name="Text 14"/>
          <p:cNvSpPr/>
          <p:nvPr/>
        </p:nvSpPr>
        <p:spPr>
          <a:xfrm>
            <a:off x="822960" y="3767328"/>
            <a:ext cx="2148840" cy="320040"/>
          </a:xfrm>
          <a:prstGeom prst="rect">
            <a:avLst/>
          </a:prstGeom>
          <a:noFill/>
          <a:ln/>
        </p:spPr>
        <p:txBody>
          <a:bodyPr wrap="square" lIns="0" tIns="0" rIns="0" bIns="0" rtlCol="0" anchor="ctr"/>
          <a:lstStyle/>
          <a:p>
            <a:pPr marL="0" indent="0" algn="ctr">
              <a:buNone/>
            </a:pPr>
            <a:r>
              <a:rPr lang="en-US" sz="1500" b="1" dirty="0">
                <a:solidFill>
                  <a:srgbClr val="F4F8FC"/>
                </a:solidFill>
              </a:rPr>
              <a:t>Sequence diagram</a:t>
            </a:r>
            <a:endParaRPr lang="en-US" sz="1500" dirty="0"/>
          </a:p>
        </p:txBody>
      </p:sp>
      <p:sp>
        <p:nvSpPr>
          <p:cNvPr id="17" name="Text 15"/>
          <p:cNvSpPr/>
          <p:nvPr/>
        </p:nvSpPr>
        <p:spPr>
          <a:xfrm>
            <a:off x="850392" y="4315968"/>
            <a:ext cx="2103120" cy="411480"/>
          </a:xfrm>
          <a:prstGeom prst="rect">
            <a:avLst/>
          </a:prstGeom>
          <a:noFill/>
          <a:ln/>
        </p:spPr>
        <p:txBody>
          <a:bodyPr wrap="square" lIns="0" tIns="0" rIns="0" bIns="0" rtlCol="0" anchor="ctr"/>
          <a:lstStyle/>
          <a:p>
            <a:pPr marL="0" indent="0" algn="ctr">
              <a:buNone/>
            </a:pPr>
            <a:r>
              <a:rPr lang="en-US" sz="1030" dirty="0" err="1" smtClean="0">
                <a:solidFill>
                  <a:srgbClr val="A8B7C8"/>
                </a:solidFill>
              </a:rPr>
              <a:t>PlantUML</a:t>
            </a:r>
            <a:endParaRPr lang="en-US" sz="1030" dirty="0"/>
          </a:p>
        </p:txBody>
      </p:sp>
      <p:sp>
        <p:nvSpPr>
          <p:cNvPr id="18" name="Shape 16"/>
          <p:cNvSpPr/>
          <p:nvPr/>
        </p:nvSpPr>
        <p:spPr>
          <a:xfrm>
            <a:off x="3502152" y="3154680"/>
            <a:ext cx="2514600" cy="1874520"/>
          </a:xfrm>
          <a:prstGeom prst="roundRect">
            <a:avLst>
              <a:gd name="adj" fmla="val 2927"/>
            </a:avLst>
          </a:prstGeom>
          <a:solidFill>
            <a:srgbClr val="0D1B2B"/>
          </a:solidFill>
          <a:ln w="12700">
            <a:solidFill>
              <a:srgbClr val="4F8CFF"/>
            </a:solidFill>
            <a:prstDash val="solid"/>
          </a:ln>
        </p:spPr>
      </p:sp>
      <p:sp>
        <p:nvSpPr>
          <p:cNvPr id="19" name="Text 17"/>
          <p:cNvSpPr/>
          <p:nvPr/>
        </p:nvSpPr>
        <p:spPr>
          <a:xfrm>
            <a:off x="3666744" y="3346704"/>
            <a:ext cx="365760" cy="182880"/>
          </a:xfrm>
          <a:prstGeom prst="rect">
            <a:avLst/>
          </a:prstGeom>
          <a:noFill/>
          <a:ln/>
        </p:spPr>
        <p:txBody>
          <a:bodyPr wrap="square" lIns="0" tIns="0" rIns="0" bIns="0" rtlCol="0" anchor="ctr"/>
          <a:lstStyle/>
          <a:p>
            <a:pPr marL="0" indent="0">
              <a:buNone/>
            </a:pPr>
            <a:r>
              <a:rPr lang="en-US" sz="1000" b="1" dirty="0">
                <a:solidFill>
                  <a:srgbClr val="4F8CFF"/>
                </a:solidFill>
              </a:rPr>
              <a:t>02</a:t>
            </a:r>
            <a:endParaRPr lang="en-US" sz="1000" dirty="0"/>
          </a:p>
        </p:txBody>
      </p:sp>
      <p:sp>
        <p:nvSpPr>
          <p:cNvPr id="20" name="Text 18"/>
          <p:cNvSpPr/>
          <p:nvPr/>
        </p:nvSpPr>
        <p:spPr>
          <a:xfrm>
            <a:off x="3685032" y="3767328"/>
            <a:ext cx="2148840" cy="320040"/>
          </a:xfrm>
          <a:prstGeom prst="rect">
            <a:avLst/>
          </a:prstGeom>
          <a:noFill/>
          <a:ln/>
        </p:spPr>
        <p:txBody>
          <a:bodyPr wrap="square" lIns="0" tIns="0" rIns="0" bIns="0" rtlCol="0" anchor="ctr"/>
          <a:lstStyle/>
          <a:p>
            <a:pPr marL="0" indent="0" algn="ctr">
              <a:buNone/>
            </a:pPr>
            <a:r>
              <a:rPr lang="en-US" sz="1500" b="1" dirty="0">
                <a:solidFill>
                  <a:srgbClr val="F4F8FC"/>
                </a:solidFill>
              </a:rPr>
              <a:t>Đặc tả hiện trạng</a:t>
            </a:r>
            <a:endParaRPr lang="en-US" sz="1500" dirty="0"/>
          </a:p>
        </p:txBody>
      </p:sp>
      <p:sp>
        <p:nvSpPr>
          <p:cNvPr id="21" name="Text 19"/>
          <p:cNvSpPr/>
          <p:nvPr/>
        </p:nvSpPr>
        <p:spPr>
          <a:xfrm>
            <a:off x="3712464" y="4315968"/>
            <a:ext cx="2103120" cy="411480"/>
          </a:xfrm>
          <a:prstGeom prst="rect">
            <a:avLst/>
          </a:prstGeom>
          <a:noFill/>
          <a:ln/>
        </p:spPr>
        <p:txBody>
          <a:bodyPr wrap="square" lIns="0" tIns="0" rIns="0" bIns="0" rtlCol="0" anchor="ctr"/>
          <a:lstStyle/>
          <a:p>
            <a:pPr marL="0" indent="0" algn="ctr">
              <a:buNone/>
            </a:pPr>
            <a:r>
              <a:rPr lang="en-US" sz="1030" dirty="0">
                <a:solidFill>
                  <a:srgbClr val="A8B7C8"/>
                </a:solidFill>
              </a:rPr>
              <a:t>Data, nhánh, lỗi, procedure</a:t>
            </a:r>
            <a:endParaRPr lang="en-US" sz="1030" dirty="0"/>
          </a:p>
        </p:txBody>
      </p:sp>
      <p:sp>
        <p:nvSpPr>
          <p:cNvPr id="22" name="Shape 20"/>
          <p:cNvSpPr/>
          <p:nvPr/>
        </p:nvSpPr>
        <p:spPr>
          <a:xfrm>
            <a:off x="6364224" y="3154680"/>
            <a:ext cx="2514600" cy="1874520"/>
          </a:xfrm>
          <a:prstGeom prst="roundRect">
            <a:avLst>
              <a:gd name="adj" fmla="val 2927"/>
            </a:avLst>
          </a:prstGeom>
          <a:solidFill>
            <a:srgbClr val="0D1B2B"/>
          </a:solidFill>
          <a:ln w="12700">
            <a:solidFill>
              <a:srgbClr val="37D996"/>
            </a:solidFill>
            <a:prstDash val="solid"/>
          </a:ln>
        </p:spPr>
      </p:sp>
      <p:sp>
        <p:nvSpPr>
          <p:cNvPr id="23" name="Text 21"/>
          <p:cNvSpPr/>
          <p:nvPr/>
        </p:nvSpPr>
        <p:spPr>
          <a:xfrm>
            <a:off x="6528816" y="3346704"/>
            <a:ext cx="365760" cy="182880"/>
          </a:xfrm>
          <a:prstGeom prst="rect">
            <a:avLst/>
          </a:prstGeom>
          <a:noFill/>
          <a:ln/>
        </p:spPr>
        <p:txBody>
          <a:bodyPr wrap="square" lIns="0" tIns="0" rIns="0" bIns="0" rtlCol="0" anchor="ctr"/>
          <a:lstStyle/>
          <a:p>
            <a:pPr marL="0" indent="0">
              <a:buNone/>
            </a:pPr>
            <a:r>
              <a:rPr lang="en-US" sz="1000" b="1" dirty="0">
                <a:solidFill>
                  <a:srgbClr val="37D996"/>
                </a:solidFill>
              </a:rPr>
              <a:t>03</a:t>
            </a:r>
            <a:endParaRPr lang="en-US" sz="1000" dirty="0"/>
          </a:p>
        </p:txBody>
      </p:sp>
      <p:sp>
        <p:nvSpPr>
          <p:cNvPr id="24" name="Text 22"/>
          <p:cNvSpPr/>
          <p:nvPr/>
        </p:nvSpPr>
        <p:spPr>
          <a:xfrm>
            <a:off x="6547104" y="3767328"/>
            <a:ext cx="2148840" cy="320040"/>
          </a:xfrm>
          <a:prstGeom prst="rect">
            <a:avLst/>
          </a:prstGeom>
          <a:noFill/>
          <a:ln/>
        </p:spPr>
        <p:txBody>
          <a:bodyPr wrap="square" lIns="0" tIns="0" rIns="0" bIns="0" rtlCol="0" anchor="ctr"/>
          <a:lstStyle/>
          <a:p>
            <a:pPr marL="0" indent="0" algn="ctr">
              <a:buNone/>
            </a:pPr>
            <a:r>
              <a:rPr lang="en-US" sz="1500" b="1" dirty="0">
                <a:solidFill>
                  <a:srgbClr val="F4F8FC"/>
                </a:solidFill>
              </a:rPr>
              <a:t>Bảng dẫn chứng</a:t>
            </a:r>
            <a:endParaRPr lang="en-US" sz="1500" dirty="0"/>
          </a:p>
        </p:txBody>
      </p:sp>
      <p:sp>
        <p:nvSpPr>
          <p:cNvPr id="25" name="Text 23"/>
          <p:cNvSpPr/>
          <p:nvPr/>
        </p:nvSpPr>
        <p:spPr>
          <a:xfrm>
            <a:off x="6574536" y="4315968"/>
            <a:ext cx="2103120" cy="411480"/>
          </a:xfrm>
          <a:prstGeom prst="rect">
            <a:avLst/>
          </a:prstGeom>
          <a:noFill/>
          <a:ln/>
        </p:spPr>
        <p:txBody>
          <a:bodyPr wrap="square" lIns="0" tIns="0" rIns="0" bIns="0" rtlCol="0" anchor="ctr"/>
          <a:lstStyle/>
          <a:p>
            <a:pPr marL="0" indent="0" algn="ctr">
              <a:buNone/>
            </a:pPr>
            <a:r>
              <a:rPr lang="en-US" sz="1030" dirty="0">
                <a:solidFill>
                  <a:srgbClr val="A8B7C8"/>
                </a:solidFill>
              </a:rPr>
              <a:t>Mỗi phát biểu → file.java:dòng</a:t>
            </a:r>
            <a:endParaRPr lang="en-US" sz="1030" dirty="0"/>
          </a:p>
        </p:txBody>
      </p:sp>
      <p:sp>
        <p:nvSpPr>
          <p:cNvPr id="26" name="Shape 24"/>
          <p:cNvSpPr/>
          <p:nvPr/>
        </p:nvSpPr>
        <p:spPr>
          <a:xfrm>
            <a:off x="9226296" y="3154680"/>
            <a:ext cx="2514600" cy="1874520"/>
          </a:xfrm>
          <a:prstGeom prst="roundRect">
            <a:avLst>
              <a:gd name="adj" fmla="val 2927"/>
            </a:avLst>
          </a:prstGeom>
          <a:solidFill>
            <a:srgbClr val="0D1B2B"/>
          </a:solidFill>
          <a:ln w="12700">
            <a:solidFill>
              <a:srgbClr val="FFB84D"/>
            </a:solidFill>
            <a:prstDash val="solid"/>
          </a:ln>
        </p:spPr>
      </p:sp>
      <p:sp>
        <p:nvSpPr>
          <p:cNvPr id="27" name="Text 25"/>
          <p:cNvSpPr/>
          <p:nvPr/>
        </p:nvSpPr>
        <p:spPr>
          <a:xfrm>
            <a:off x="9390888" y="3346704"/>
            <a:ext cx="365760" cy="182880"/>
          </a:xfrm>
          <a:prstGeom prst="rect">
            <a:avLst/>
          </a:prstGeom>
          <a:noFill/>
          <a:ln/>
        </p:spPr>
        <p:txBody>
          <a:bodyPr wrap="square" lIns="0" tIns="0" rIns="0" bIns="0" rtlCol="0" anchor="ctr"/>
          <a:lstStyle/>
          <a:p>
            <a:pPr marL="0" indent="0">
              <a:buNone/>
            </a:pPr>
            <a:r>
              <a:rPr lang="en-US" sz="1000" b="1" dirty="0">
                <a:solidFill>
                  <a:srgbClr val="FFB84D"/>
                </a:solidFill>
              </a:rPr>
              <a:t>04</a:t>
            </a:r>
            <a:endParaRPr lang="en-US" sz="1000" dirty="0"/>
          </a:p>
        </p:txBody>
      </p:sp>
      <p:sp>
        <p:nvSpPr>
          <p:cNvPr id="28" name="Text 26"/>
          <p:cNvSpPr/>
          <p:nvPr/>
        </p:nvSpPr>
        <p:spPr>
          <a:xfrm>
            <a:off x="9409176" y="3767328"/>
            <a:ext cx="2148840" cy="320040"/>
          </a:xfrm>
          <a:prstGeom prst="rect">
            <a:avLst/>
          </a:prstGeom>
          <a:noFill/>
          <a:ln/>
        </p:spPr>
        <p:txBody>
          <a:bodyPr wrap="square" lIns="0" tIns="0" rIns="0" bIns="0" rtlCol="0" anchor="ctr"/>
          <a:lstStyle/>
          <a:p>
            <a:pPr marL="0" indent="0" algn="ctr">
              <a:buNone/>
            </a:pPr>
            <a:r>
              <a:rPr lang="en-US" sz="1500" b="1" dirty="0">
                <a:solidFill>
                  <a:srgbClr val="F4F8FC"/>
                </a:solidFill>
              </a:rPr>
              <a:t>Cần xác nhận</a:t>
            </a:r>
            <a:endParaRPr lang="en-US" sz="1500" dirty="0"/>
          </a:p>
        </p:txBody>
      </p:sp>
      <p:sp>
        <p:nvSpPr>
          <p:cNvPr id="29" name="Text 27"/>
          <p:cNvSpPr/>
          <p:nvPr/>
        </p:nvSpPr>
        <p:spPr>
          <a:xfrm>
            <a:off x="9436608" y="4315968"/>
            <a:ext cx="2103120" cy="411480"/>
          </a:xfrm>
          <a:prstGeom prst="rect">
            <a:avLst/>
          </a:prstGeom>
          <a:noFill/>
          <a:ln/>
        </p:spPr>
        <p:txBody>
          <a:bodyPr wrap="square" lIns="0" tIns="0" rIns="0" bIns="0" rtlCol="0" anchor="ctr"/>
          <a:lstStyle/>
          <a:p>
            <a:pPr marL="0" indent="0" algn="ctr">
              <a:buNone/>
            </a:pPr>
            <a:r>
              <a:rPr lang="en-US" sz="1030" dirty="0">
                <a:solidFill>
                  <a:srgbClr val="A8B7C8"/>
                </a:solidFill>
              </a:rPr>
              <a:t>Những gì code không kết luận được</a:t>
            </a:r>
            <a:endParaRPr lang="en-US" sz="1030" dirty="0"/>
          </a:p>
        </p:txBody>
      </p:sp>
      <p:sp>
        <p:nvSpPr>
          <p:cNvPr id="30" name="Text 28"/>
          <p:cNvSpPr/>
          <p:nvPr/>
        </p:nvSpPr>
        <p:spPr>
          <a:xfrm>
            <a:off x="1828800" y="5596128"/>
            <a:ext cx="8549640" cy="320040"/>
          </a:xfrm>
          <a:prstGeom prst="rect">
            <a:avLst/>
          </a:prstGeom>
          <a:noFill/>
          <a:ln/>
        </p:spPr>
        <p:txBody>
          <a:bodyPr wrap="square" lIns="0" tIns="0" rIns="0" bIns="0" rtlCol="0" anchor="ctr"/>
          <a:lstStyle/>
          <a:p>
            <a:pPr marL="0" indent="0" algn="ctr">
              <a:buNone/>
            </a:pPr>
            <a:endParaRPr lang="en-US" sz="1600" dirty="0"/>
          </a:p>
        </p:txBody>
      </p:sp>
      <p:sp>
        <p:nvSpPr>
          <p:cNvPr id="31" name="Slide Number Placeholder 0"/>
          <p:cNvSpPr>
            <a:spLocks noGrp="1"/>
          </p:cNvSpPr>
          <p:nvPr>
            <p:ph type="sldNum" sz="quarter" idx="4294967295"/>
          </p:nvPr>
        </p:nvSpPr>
        <p:spPr>
          <a:xfrm>
            <a:off x="11768328" y="6492240"/>
            <a:ext cx="182880" cy="137160"/>
          </a:xfrm>
          <a:prstGeom prst="rect">
            <a:avLst/>
          </a:prstGeom>
          <a:extLst>
            <a:ext uri="{C572A759-6A51-4108-AA02-DFA0A04FC94B}">
              <ma14:wrappingTextBoxFlag xmlns:ma14="http://schemas.microsoft.com/office/mac/drawingml/2011/main" xmlns="" val="0"/>
            </a:ext>
          </a:extLst>
        </p:spPr>
        <p:txBody>
          <a:bodyPr lIns="0" tIns="0" rIns="0" bIns="0"/>
          <a:lstStyle>
            <a:lvl1pPr>
              <a:defRPr sz="800">
                <a:solidFill>
                  <a:srgbClr val="667D96"/>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1" cy="1"/>
          <a:chOff x="0" y="0"/>
          <a:chExt cx="1" cy="1"/>
        </a:xfrm>
      </p:grpSpPr>
      <p:sp>
        <p:nvSpPr>
          <p:cNvPr id="2" name="Text 0"/>
          <p:cNvSpPr/>
          <p:nvPr/>
        </p:nvSpPr>
        <p:spPr>
          <a:xfrm>
            <a:off x="512064" y="356616"/>
            <a:ext cx="4572000" cy="182880"/>
          </a:xfrm>
          <a:prstGeom prst="rect">
            <a:avLst/>
          </a:prstGeom>
          <a:noFill/>
          <a:ln/>
        </p:spPr>
        <p:txBody>
          <a:bodyPr wrap="square" lIns="0" tIns="0" rIns="0" bIns="0" rtlCol="0" anchor="ctr"/>
          <a:lstStyle/>
          <a:p>
            <a:pPr marL="0" indent="0">
              <a:buNone/>
            </a:pPr>
            <a:r>
              <a:rPr lang="en-US" sz="850" b="1" kern="0" spc="170" dirty="0">
                <a:solidFill>
                  <a:srgbClr val="28D7F2"/>
                </a:solidFill>
              </a:rPr>
              <a:t>04 | DEMO 3 PHÚT</a:t>
            </a:r>
            <a:endParaRPr lang="en-US" sz="850" dirty="0"/>
          </a:p>
        </p:txBody>
      </p:sp>
      <p:sp>
        <p:nvSpPr>
          <p:cNvPr id="3" name="Text 1"/>
          <p:cNvSpPr/>
          <p:nvPr/>
        </p:nvSpPr>
        <p:spPr>
          <a:xfrm>
            <a:off x="512064" y="640080"/>
            <a:ext cx="11064240" cy="475488"/>
          </a:xfrm>
          <a:prstGeom prst="rect">
            <a:avLst/>
          </a:prstGeom>
          <a:noFill/>
          <a:ln/>
        </p:spPr>
        <p:txBody>
          <a:bodyPr wrap="square" lIns="0" tIns="0" rIns="0" bIns="0" rtlCol="0" anchor="ctr"/>
          <a:lstStyle/>
          <a:p>
            <a:pPr marL="0" indent="0">
              <a:buNone/>
            </a:pPr>
            <a:r>
              <a:rPr lang="en-US" sz="2600" b="1" dirty="0">
                <a:solidFill>
                  <a:srgbClr val="F4F8FC"/>
                </a:solidFill>
              </a:rPr>
              <a:t>Một request → bốn định dạng cho bốn người đọc</a:t>
            </a:r>
            <a:endParaRPr lang="en-US" sz="2600" dirty="0"/>
          </a:p>
        </p:txBody>
      </p:sp>
      <p:sp>
        <p:nvSpPr>
          <p:cNvPr id="6" name="Shape 4"/>
          <p:cNvSpPr/>
          <p:nvPr/>
        </p:nvSpPr>
        <p:spPr>
          <a:xfrm>
            <a:off x="1078992" y="1413995"/>
            <a:ext cx="4005072" cy="859536"/>
          </a:xfrm>
          <a:prstGeom prst="roundRect">
            <a:avLst>
              <a:gd name="adj" fmla="val 6383"/>
            </a:avLst>
          </a:prstGeom>
          <a:solidFill>
            <a:srgbClr val="0D1B2B"/>
          </a:solidFill>
          <a:ln w="12700">
            <a:solidFill>
              <a:srgbClr val="29435F"/>
            </a:solidFill>
            <a:prstDash val="solid"/>
          </a:ln>
          <a:effectLst>
            <a:outerShdw blurRad="19050" dist="8890" dir="2700000" algn="bl" rotWithShape="0">
              <a:srgbClr val="000000">
                <a:alpha val="18000"/>
              </a:srgbClr>
            </a:outerShdw>
          </a:effectLst>
        </p:spPr>
      </p:sp>
      <p:sp>
        <p:nvSpPr>
          <p:cNvPr id="7" name="Shape 5"/>
          <p:cNvSpPr/>
          <p:nvPr/>
        </p:nvSpPr>
        <p:spPr>
          <a:xfrm>
            <a:off x="1078992" y="1413995"/>
            <a:ext cx="50292" cy="859536"/>
          </a:xfrm>
          <a:prstGeom prst="rect">
            <a:avLst/>
          </a:prstGeom>
          <a:solidFill>
            <a:srgbClr val="28D7F2"/>
          </a:solidFill>
          <a:ln w="12700">
            <a:solidFill>
              <a:srgbClr val="28D7F2"/>
            </a:solidFill>
            <a:prstDash val="solid"/>
          </a:ln>
        </p:spPr>
      </p:sp>
      <p:sp>
        <p:nvSpPr>
          <p:cNvPr id="8" name="Text 6"/>
          <p:cNvSpPr/>
          <p:nvPr/>
        </p:nvSpPr>
        <p:spPr>
          <a:xfrm>
            <a:off x="1261872" y="1569443"/>
            <a:ext cx="3657600" cy="274320"/>
          </a:xfrm>
          <a:prstGeom prst="rect">
            <a:avLst/>
          </a:prstGeom>
          <a:noFill/>
          <a:ln/>
        </p:spPr>
        <p:txBody>
          <a:bodyPr wrap="square" lIns="0" tIns="0" rIns="0" bIns="0" rtlCol="0" anchor="ctr"/>
          <a:lstStyle/>
          <a:p>
            <a:pPr marL="0" indent="0">
              <a:buNone/>
            </a:pPr>
            <a:r>
              <a:rPr lang="en-US" sz="1450" b="1" dirty="0">
                <a:solidFill>
                  <a:srgbClr val="F4F8FC"/>
                </a:solidFill>
              </a:rPr>
              <a:t>spec.html</a:t>
            </a:r>
            <a:endParaRPr lang="en-US" sz="1450" dirty="0"/>
          </a:p>
        </p:txBody>
      </p:sp>
      <p:sp>
        <p:nvSpPr>
          <p:cNvPr id="9" name="Text 7"/>
          <p:cNvSpPr/>
          <p:nvPr/>
        </p:nvSpPr>
        <p:spPr>
          <a:xfrm>
            <a:off x="1261872" y="1935203"/>
            <a:ext cx="3657600" cy="219456"/>
          </a:xfrm>
          <a:prstGeom prst="rect">
            <a:avLst/>
          </a:prstGeom>
          <a:noFill/>
          <a:ln/>
        </p:spPr>
        <p:txBody>
          <a:bodyPr wrap="square" lIns="127" tIns="127" rIns="127" bIns="127" rtlCol="0" anchor="ctr"/>
          <a:lstStyle/>
          <a:p>
            <a:pPr marL="0" indent="0">
              <a:buNone/>
            </a:pPr>
            <a:r>
              <a:rPr lang="en-US" sz="1050" dirty="0">
                <a:solidFill>
                  <a:srgbClr val="A8B7C8"/>
                </a:solidFill>
              </a:rPr>
              <a:t>BA mở bằng browser</a:t>
            </a:r>
            <a:endParaRPr lang="en-US" sz="1050" dirty="0"/>
          </a:p>
        </p:txBody>
      </p:sp>
      <p:sp>
        <p:nvSpPr>
          <p:cNvPr id="10" name="Shape 8"/>
          <p:cNvSpPr/>
          <p:nvPr/>
        </p:nvSpPr>
        <p:spPr>
          <a:xfrm>
            <a:off x="1078992" y="2438123"/>
            <a:ext cx="4005072" cy="859536"/>
          </a:xfrm>
          <a:prstGeom prst="roundRect">
            <a:avLst>
              <a:gd name="adj" fmla="val 6383"/>
            </a:avLst>
          </a:prstGeom>
          <a:solidFill>
            <a:srgbClr val="0D1B2B"/>
          </a:solidFill>
          <a:ln w="12700">
            <a:solidFill>
              <a:srgbClr val="29435F"/>
            </a:solidFill>
            <a:prstDash val="solid"/>
          </a:ln>
          <a:effectLst>
            <a:outerShdw blurRad="19050" dist="8890" dir="2700000" algn="bl" rotWithShape="0">
              <a:srgbClr val="000000">
                <a:alpha val="18000"/>
              </a:srgbClr>
            </a:outerShdw>
          </a:effectLst>
        </p:spPr>
      </p:sp>
      <p:sp>
        <p:nvSpPr>
          <p:cNvPr id="11" name="Shape 9"/>
          <p:cNvSpPr/>
          <p:nvPr/>
        </p:nvSpPr>
        <p:spPr>
          <a:xfrm>
            <a:off x="1078992" y="2438123"/>
            <a:ext cx="50292" cy="859536"/>
          </a:xfrm>
          <a:prstGeom prst="rect">
            <a:avLst/>
          </a:prstGeom>
          <a:solidFill>
            <a:srgbClr val="4F8CFF"/>
          </a:solidFill>
          <a:ln w="12700">
            <a:solidFill>
              <a:srgbClr val="4F8CFF"/>
            </a:solidFill>
            <a:prstDash val="solid"/>
          </a:ln>
        </p:spPr>
      </p:sp>
      <p:sp>
        <p:nvSpPr>
          <p:cNvPr id="12" name="Text 10"/>
          <p:cNvSpPr/>
          <p:nvPr/>
        </p:nvSpPr>
        <p:spPr>
          <a:xfrm>
            <a:off x="1261872" y="2593571"/>
            <a:ext cx="3657600" cy="274320"/>
          </a:xfrm>
          <a:prstGeom prst="rect">
            <a:avLst/>
          </a:prstGeom>
          <a:noFill/>
          <a:ln/>
        </p:spPr>
        <p:txBody>
          <a:bodyPr wrap="square" lIns="0" tIns="0" rIns="0" bIns="0" rtlCol="0" anchor="ctr"/>
          <a:lstStyle/>
          <a:p>
            <a:pPr marL="0" indent="0">
              <a:buNone/>
            </a:pPr>
            <a:r>
              <a:rPr lang="en-US" sz="1450" b="1" dirty="0">
                <a:solidFill>
                  <a:srgbClr val="F4F8FC"/>
                </a:solidFill>
              </a:rPr>
              <a:t>spec.md</a:t>
            </a:r>
            <a:endParaRPr lang="en-US" sz="1450" dirty="0"/>
          </a:p>
        </p:txBody>
      </p:sp>
      <p:sp>
        <p:nvSpPr>
          <p:cNvPr id="13" name="Text 11"/>
          <p:cNvSpPr/>
          <p:nvPr/>
        </p:nvSpPr>
        <p:spPr>
          <a:xfrm>
            <a:off x="1261872" y="2959331"/>
            <a:ext cx="3657600" cy="219456"/>
          </a:xfrm>
          <a:prstGeom prst="rect">
            <a:avLst/>
          </a:prstGeom>
          <a:noFill/>
          <a:ln/>
        </p:spPr>
        <p:txBody>
          <a:bodyPr wrap="square" lIns="127" tIns="127" rIns="127" bIns="127" rtlCol="0" anchor="ctr"/>
          <a:lstStyle/>
          <a:p>
            <a:pPr marL="0" indent="0">
              <a:buNone/>
            </a:pPr>
            <a:r>
              <a:rPr lang="en-US" sz="1050" dirty="0">
                <a:solidFill>
                  <a:srgbClr val="A8B7C8"/>
                </a:solidFill>
              </a:rPr>
              <a:t>GitLab wiki / mô tả MR</a:t>
            </a:r>
            <a:endParaRPr lang="en-US" sz="1050" dirty="0"/>
          </a:p>
        </p:txBody>
      </p:sp>
      <p:sp>
        <p:nvSpPr>
          <p:cNvPr id="14" name="Shape 12"/>
          <p:cNvSpPr/>
          <p:nvPr/>
        </p:nvSpPr>
        <p:spPr>
          <a:xfrm>
            <a:off x="1078992" y="3462251"/>
            <a:ext cx="4005072" cy="859536"/>
          </a:xfrm>
          <a:prstGeom prst="roundRect">
            <a:avLst>
              <a:gd name="adj" fmla="val 6383"/>
            </a:avLst>
          </a:prstGeom>
          <a:solidFill>
            <a:srgbClr val="0D1B2B"/>
          </a:solidFill>
          <a:ln w="12700">
            <a:solidFill>
              <a:srgbClr val="29435F"/>
            </a:solidFill>
            <a:prstDash val="solid"/>
          </a:ln>
          <a:effectLst>
            <a:outerShdw blurRad="19050" dist="8890" dir="2700000" algn="bl" rotWithShape="0">
              <a:srgbClr val="000000">
                <a:alpha val="18000"/>
              </a:srgbClr>
            </a:outerShdw>
          </a:effectLst>
        </p:spPr>
      </p:sp>
      <p:sp>
        <p:nvSpPr>
          <p:cNvPr id="15" name="Shape 13"/>
          <p:cNvSpPr/>
          <p:nvPr/>
        </p:nvSpPr>
        <p:spPr>
          <a:xfrm>
            <a:off x="1078992" y="3462251"/>
            <a:ext cx="50292" cy="859536"/>
          </a:xfrm>
          <a:prstGeom prst="rect">
            <a:avLst/>
          </a:prstGeom>
          <a:solidFill>
            <a:srgbClr val="916CFF"/>
          </a:solidFill>
          <a:ln w="12700">
            <a:solidFill>
              <a:srgbClr val="916CFF"/>
            </a:solidFill>
            <a:prstDash val="solid"/>
          </a:ln>
        </p:spPr>
      </p:sp>
      <p:sp>
        <p:nvSpPr>
          <p:cNvPr id="16" name="Text 14"/>
          <p:cNvSpPr/>
          <p:nvPr/>
        </p:nvSpPr>
        <p:spPr>
          <a:xfrm>
            <a:off x="1261872" y="3617699"/>
            <a:ext cx="3657600" cy="274320"/>
          </a:xfrm>
          <a:prstGeom prst="rect">
            <a:avLst/>
          </a:prstGeom>
          <a:noFill/>
          <a:ln/>
        </p:spPr>
        <p:txBody>
          <a:bodyPr wrap="square" lIns="0" tIns="0" rIns="0" bIns="0" rtlCol="0" anchor="ctr"/>
          <a:lstStyle/>
          <a:p>
            <a:pPr marL="0" indent="0">
              <a:buNone/>
            </a:pPr>
            <a:r>
              <a:rPr lang="en-US" sz="1450" b="1" dirty="0">
                <a:solidFill>
                  <a:srgbClr val="F4F8FC"/>
                </a:solidFill>
              </a:rPr>
              <a:t>api-flow.puml</a:t>
            </a:r>
            <a:endParaRPr lang="en-US" sz="1450" dirty="0"/>
          </a:p>
        </p:txBody>
      </p:sp>
      <p:sp>
        <p:nvSpPr>
          <p:cNvPr id="17" name="Text 15"/>
          <p:cNvSpPr/>
          <p:nvPr/>
        </p:nvSpPr>
        <p:spPr>
          <a:xfrm>
            <a:off x="1261872" y="3983459"/>
            <a:ext cx="3657600" cy="219456"/>
          </a:xfrm>
          <a:prstGeom prst="rect">
            <a:avLst/>
          </a:prstGeom>
          <a:noFill/>
          <a:ln/>
        </p:spPr>
        <p:txBody>
          <a:bodyPr wrap="square" lIns="127" tIns="127" rIns="127" bIns="127" rtlCol="0" anchor="ctr"/>
          <a:lstStyle/>
          <a:p>
            <a:pPr marL="0" indent="0">
              <a:buNone/>
            </a:pPr>
            <a:r>
              <a:rPr lang="en-US" sz="1050" dirty="0">
                <a:solidFill>
                  <a:srgbClr val="A8B7C8"/>
                </a:solidFill>
              </a:rPr>
              <a:t>Dev mở bằng PlantUML</a:t>
            </a:r>
            <a:endParaRPr lang="en-US" sz="1050" dirty="0"/>
          </a:p>
        </p:txBody>
      </p:sp>
      <p:sp>
        <p:nvSpPr>
          <p:cNvPr id="18" name="Shape 16"/>
          <p:cNvSpPr/>
          <p:nvPr/>
        </p:nvSpPr>
        <p:spPr>
          <a:xfrm>
            <a:off x="1078992" y="4486379"/>
            <a:ext cx="4005072" cy="859536"/>
          </a:xfrm>
          <a:prstGeom prst="roundRect">
            <a:avLst>
              <a:gd name="adj" fmla="val 6383"/>
            </a:avLst>
          </a:prstGeom>
          <a:solidFill>
            <a:srgbClr val="0D1B2B"/>
          </a:solidFill>
          <a:ln w="12700">
            <a:solidFill>
              <a:srgbClr val="29435F"/>
            </a:solidFill>
            <a:prstDash val="solid"/>
          </a:ln>
          <a:effectLst>
            <a:outerShdw blurRad="19050" dist="8890" dir="2700000" algn="bl" rotWithShape="0">
              <a:srgbClr val="000000">
                <a:alpha val="18000"/>
              </a:srgbClr>
            </a:outerShdw>
          </a:effectLst>
        </p:spPr>
      </p:sp>
      <p:sp>
        <p:nvSpPr>
          <p:cNvPr id="19" name="Shape 17"/>
          <p:cNvSpPr/>
          <p:nvPr/>
        </p:nvSpPr>
        <p:spPr>
          <a:xfrm>
            <a:off x="1078992" y="4486379"/>
            <a:ext cx="50292" cy="859536"/>
          </a:xfrm>
          <a:prstGeom prst="rect">
            <a:avLst/>
          </a:prstGeom>
          <a:solidFill>
            <a:srgbClr val="37D996"/>
          </a:solidFill>
          <a:ln w="12700">
            <a:solidFill>
              <a:srgbClr val="37D996"/>
            </a:solidFill>
            <a:prstDash val="solid"/>
          </a:ln>
        </p:spPr>
      </p:sp>
      <p:sp>
        <p:nvSpPr>
          <p:cNvPr id="20" name="Text 18"/>
          <p:cNvSpPr/>
          <p:nvPr/>
        </p:nvSpPr>
        <p:spPr>
          <a:xfrm>
            <a:off x="1261872" y="4641827"/>
            <a:ext cx="3657600" cy="274320"/>
          </a:xfrm>
          <a:prstGeom prst="rect">
            <a:avLst/>
          </a:prstGeom>
          <a:noFill/>
          <a:ln/>
        </p:spPr>
        <p:txBody>
          <a:bodyPr wrap="square" lIns="0" tIns="0" rIns="0" bIns="0" rtlCol="0" anchor="ctr"/>
          <a:lstStyle/>
          <a:p>
            <a:pPr marL="0" indent="0">
              <a:buNone/>
            </a:pPr>
            <a:r>
              <a:rPr lang="en-US" sz="1450" b="1" dirty="0">
                <a:solidFill>
                  <a:srgbClr val="F4F8FC"/>
                </a:solidFill>
              </a:rPr>
              <a:t>evidence.json</a:t>
            </a:r>
            <a:endParaRPr lang="en-US" sz="1450" dirty="0"/>
          </a:p>
        </p:txBody>
      </p:sp>
      <p:sp>
        <p:nvSpPr>
          <p:cNvPr id="21" name="Text 19"/>
          <p:cNvSpPr/>
          <p:nvPr/>
        </p:nvSpPr>
        <p:spPr>
          <a:xfrm>
            <a:off x="1261872" y="5007587"/>
            <a:ext cx="3657600" cy="219456"/>
          </a:xfrm>
          <a:prstGeom prst="rect">
            <a:avLst/>
          </a:prstGeom>
          <a:noFill/>
          <a:ln/>
        </p:spPr>
        <p:txBody>
          <a:bodyPr wrap="square" lIns="127" tIns="127" rIns="127" bIns="127" rtlCol="0" anchor="ctr"/>
          <a:lstStyle/>
          <a:p>
            <a:pPr marL="0" indent="0">
              <a:buNone/>
            </a:pPr>
            <a:r>
              <a:rPr lang="en-US" sz="1050" dirty="0">
                <a:solidFill>
                  <a:srgbClr val="A8B7C8"/>
                </a:solidFill>
              </a:rPr>
              <a:t>Hệ thống khác dùng lại</a:t>
            </a:r>
            <a:endParaRPr lang="en-US" sz="1050" dirty="0"/>
          </a:p>
        </p:txBody>
      </p:sp>
      <p:sp>
        <p:nvSpPr>
          <p:cNvPr id="25" name="Slide Number Placeholder 0"/>
          <p:cNvSpPr>
            <a:spLocks noGrp="1"/>
          </p:cNvSpPr>
          <p:nvPr>
            <p:ph type="sldNum" sz="quarter" idx="4294967295"/>
          </p:nvPr>
        </p:nvSpPr>
        <p:spPr>
          <a:xfrm>
            <a:off x="11768328" y="6492240"/>
            <a:ext cx="182880" cy="137160"/>
          </a:xfrm>
          <a:prstGeom prst="rect">
            <a:avLst/>
          </a:prstGeom>
          <a:extLst>
            <a:ext uri="{C572A759-6A51-4108-AA02-DFA0A04FC94B}">
              <ma14:wrappingTextBoxFlag xmlns:ma14="http://schemas.microsoft.com/office/mac/drawingml/2011/main" xmlns="" val="0"/>
            </a:ext>
          </a:extLst>
        </p:spPr>
        <p:txBody>
          <a:bodyPr lIns="0" tIns="0" rIns="0" bIns="0"/>
          <a:lstStyle>
            <a:lvl1pPr>
              <a:defRPr sz="800">
                <a:solidFill>
                  <a:srgbClr val="667D96"/>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1" cy="1"/>
          <a:chOff x="0" y="0"/>
          <a:chExt cx="1" cy="1"/>
        </a:xfrm>
      </p:grpSpPr>
      <p:sp>
        <p:nvSpPr>
          <p:cNvPr id="2" name="Text 0"/>
          <p:cNvSpPr/>
          <p:nvPr/>
        </p:nvSpPr>
        <p:spPr>
          <a:xfrm>
            <a:off x="512064" y="356616"/>
            <a:ext cx="4572000" cy="182880"/>
          </a:xfrm>
          <a:prstGeom prst="rect">
            <a:avLst/>
          </a:prstGeom>
          <a:noFill/>
          <a:ln/>
        </p:spPr>
        <p:txBody>
          <a:bodyPr wrap="square" lIns="0" tIns="0" rIns="0" bIns="0" rtlCol="0" anchor="ctr"/>
          <a:lstStyle/>
          <a:p>
            <a:pPr marL="0" indent="0">
              <a:buNone/>
            </a:pPr>
            <a:r>
              <a:rPr lang="en-US" sz="850" b="1" kern="0" spc="170" dirty="0">
                <a:solidFill>
                  <a:srgbClr val="28D7F2"/>
                </a:solidFill>
              </a:rPr>
              <a:t>05 | LỢI THẾ CỐT LÕI</a:t>
            </a:r>
            <a:endParaRPr lang="en-US" sz="850" dirty="0"/>
          </a:p>
        </p:txBody>
      </p:sp>
      <p:sp>
        <p:nvSpPr>
          <p:cNvPr id="3" name="Text 1"/>
          <p:cNvSpPr/>
          <p:nvPr/>
        </p:nvSpPr>
        <p:spPr>
          <a:xfrm>
            <a:off x="512064" y="640080"/>
            <a:ext cx="11064240" cy="475488"/>
          </a:xfrm>
          <a:prstGeom prst="rect">
            <a:avLst/>
          </a:prstGeom>
          <a:noFill/>
          <a:ln/>
        </p:spPr>
        <p:txBody>
          <a:bodyPr wrap="square" lIns="0" tIns="0" rIns="0" bIns="0" rtlCol="0" anchor="ctr"/>
          <a:lstStyle/>
          <a:p>
            <a:pPr marL="0" indent="0">
              <a:buNone/>
            </a:pPr>
            <a:r>
              <a:rPr lang="en-US" sz="2600" b="1" dirty="0">
                <a:solidFill>
                  <a:srgbClr val="F4F8FC"/>
                </a:solidFill>
              </a:rPr>
              <a:t>Bốn cơ chế chống bịa, đều là code chạy được.</a:t>
            </a:r>
            <a:endParaRPr lang="en-US" sz="2600" dirty="0"/>
          </a:p>
        </p:txBody>
      </p:sp>
      <p:sp>
        <p:nvSpPr>
          <p:cNvPr id="4" name="Shape 2"/>
          <p:cNvSpPr/>
          <p:nvPr/>
        </p:nvSpPr>
        <p:spPr>
          <a:xfrm>
            <a:off x="566928" y="1691640"/>
            <a:ext cx="2423160" cy="3429000"/>
          </a:xfrm>
          <a:prstGeom prst="roundRect">
            <a:avLst>
              <a:gd name="adj" fmla="val 2264"/>
            </a:avLst>
          </a:prstGeom>
          <a:solidFill>
            <a:srgbClr val="0D1B2B"/>
          </a:solidFill>
          <a:ln w="16510">
            <a:solidFill>
              <a:srgbClr val="28D7F2"/>
            </a:solidFill>
            <a:prstDash val="solid"/>
          </a:ln>
        </p:spPr>
      </p:sp>
      <p:sp>
        <p:nvSpPr>
          <p:cNvPr id="5" name="Text 3"/>
          <p:cNvSpPr/>
          <p:nvPr/>
        </p:nvSpPr>
        <p:spPr>
          <a:xfrm>
            <a:off x="749808" y="1901952"/>
            <a:ext cx="365760" cy="219456"/>
          </a:xfrm>
          <a:prstGeom prst="rect">
            <a:avLst/>
          </a:prstGeom>
          <a:noFill/>
          <a:ln/>
        </p:spPr>
        <p:txBody>
          <a:bodyPr wrap="square" lIns="0" tIns="0" rIns="0" bIns="0" rtlCol="0" anchor="ctr"/>
          <a:lstStyle/>
          <a:p>
            <a:pPr marL="0" indent="0">
              <a:buNone/>
            </a:pPr>
            <a:r>
              <a:rPr lang="en-US" sz="1100" b="1" dirty="0">
                <a:solidFill>
                  <a:srgbClr val="28D7F2"/>
                </a:solidFill>
              </a:rPr>
              <a:t>01</a:t>
            </a:r>
            <a:endParaRPr lang="en-US" sz="1100" dirty="0"/>
          </a:p>
        </p:txBody>
      </p:sp>
      <p:sp>
        <p:nvSpPr>
          <p:cNvPr id="6" name="Text 4"/>
          <p:cNvSpPr/>
          <p:nvPr/>
        </p:nvSpPr>
        <p:spPr>
          <a:xfrm>
            <a:off x="749808" y="2414016"/>
            <a:ext cx="2057400" cy="320040"/>
          </a:xfrm>
          <a:prstGeom prst="rect">
            <a:avLst/>
          </a:prstGeom>
          <a:noFill/>
          <a:ln/>
        </p:spPr>
        <p:txBody>
          <a:bodyPr wrap="square" lIns="0" tIns="0" rIns="0" bIns="0" rtlCol="0" anchor="ctr"/>
          <a:lstStyle/>
          <a:p>
            <a:pPr marL="0" indent="0" algn="ctr">
              <a:buNone/>
            </a:pPr>
            <a:r>
              <a:rPr lang="en-US" sz="1500" b="1" dirty="0">
                <a:solidFill>
                  <a:srgbClr val="F4F8FC"/>
                </a:solidFill>
              </a:rPr>
              <a:t>TẤT ĐỊNH</a:t>
            </a:r>
            <a:endParaRPr lang="en-US" sz="1500" dirty="0"/>
          </a:p>
        </p:txBody>
      </p:sp>
      <p:sp>
        <p:nvSpPr>
          <p:cNvPr id="7" name="Text 5"/>
          <p:cNvSpPr/>
          <p:nvPr/>
        </p:nvSpPr>
        <p:spPr>
          <a:xfrm>
            <a:off x="822960" y="3154680"/>
            <a:ext cx="1920240" cy="1115568"/>
          </a:xfrm>
          <a:prstGeom prst="rect">
            <a:avLst/>
          </a:prstGeom>
          <a:noFill/>
          <a:ln/>
        </p:spPr>
        <p:txBody>
          <a:bodyPr wrap="square" lIns="0" tIns="0" rIns="0" bIns="0" rtlCol="0" anchor="ctr"/>
          <a:lstStyle/>
          <a:p>
            <a:pPr marL="0" indent="0" algn="ctr">
              <a:buNone/>
            </a:pPr>
            <a:r>
              <a:rPr lang="en-US" sz="1100" dirty="0">
                <a:solidFill>
                  <a:srgbClr val="A8B7C8"/>
                </a:solidFill>
              </a:rPr>
              <a:t>JavaParser + symbol solver dựng call graph. Cùng commit → cùng kết quả.</a:t>
            </a:r>
            <a:endParaRPr lang="en-US" sz="1100" dirty="0"/>
          </a:p>
        </p:txBody>
      </p:sp>
      <p:sp>
        <p:nvSpPr>
          <p:cNvPr id="8" name="Shape 6"/>
          <p:cNvSpPr/>
          <p:nvPr/>
        </p:nvSpPr>
        <p:spPr>
          <a:xfrm>
            <a:off x="3456432" y="1691640"/>
            <a:ext cx="2423160" cy="3429000"/>
          </a:xfrm>
          <a:prstGeom prst="roundRect">
            <a:avLst>
              <a:gd name="adj" fmla="val 2264"/>
            </a:avLst>
          </a:prstGeom>
          <a:solidFill>
            <a:srgbClr val="0D1B2B"/>
          </a:solidFill>
          <a:ln w="16510">
            <a:solidFill>
              <a:srgbClr val="37D996"/>
            </a:solidFill>
            <a:prstDash val="solid"/>
          </a:ln>
        </p:spPr>
      </p:sp>
      <p:sp>
        <p:nvSpPr>
          <p:cNvPr id="9" name="Text 7"/>
          <p:cNvSpPr/>
          <p:nvPr/>
        </p:nvSpPr>
        <p:spPr>
          <a:xfrm>
            <a:off x="3639312" y="1901952"/>
            <a:ext cx="365760" cy="219456"/>
          </a:xfrm>
          <a:prstGeom prst="rect">
            <a:avLst/>
          </a:prstGeom>
          <a:noFill/>
          <a:ln/>
        </p:spPr>
        <p:txBody>
          <a:bodyPr wrap="square" lIns="0" tIns="0" rIns="0" bIns="0" rtlCol="0" anchor="ctr"/>
          <a:lstStyle/>
          <a:p>
            <a:pPr marL="0" indent="0">
              <a:buNone/>
            </a:pPr>
            <a:r>
              <a:rPr lang="en-US" sz="1100" b="1" dirty="0">
                <a:solidFill>
                  <a:srgbClr val="37D996"/>
                </a:solidFill>
              </a:rPr>
              <a:t>02</a:t>
            </a:r>
            <a:endParaRPr lang="en-US" sz="1100" dirty="0"/>
          </a:p>
        </p:txBody>
      </p:sp>
      <p:sp>
        <p:nvSpPr>
          <p:cNvPr id="10" name="Text 8"/>
          <p:cNvSpPr/>
          <p:nvPr/>
        </p:nvSpPr>
        <p:spPr>
          <a:xfrm>
            <a:off x="3639312" y="2414016"/>
            <a:ext cx="2057400" cy="320040"/>
          </a:xfrm>
          <a:prstGeom prst="rect">
            <a:avLst/>
          </a:prstGeom>
          <a:noFill/>
          <a:ln/>
        </p:spPr>
        <p:txBody>
          <a:bodyPr wrap="square" lIns="0" tIns="0" rIns="0" bIns="0" rtlCol="0" anchor="ctr"/>
          <a:lstStyle/>
          <a:p>
            <a:pPr marL="0" indent="0" algn="ctr">
              <a:buNone/>
            </a:pPr>
            <a:r>
              <a:rPr lang="en-US" sz="1500" b="1" dirty="0">
                <a:solidFill>
                  <a:srgbClr val="F4F8FC"/>
                </a:solidFill>
              </a:rPr>
              <a:t>TRUY VẾT</a:t>
            </a:r>
            <a:endParaRPr lang="en-US" sz="1500" dirty="0"/>
          </a:p>
        </p:txBody>
      </p:sp>
      <p:sp>
        <p:nvSpPr>
          <p:cNvPr id="11" name="Text 9"/>
          <p:cNvSpPr/>
          <p:nvPr/>
        </p:nvSpPr>
        <p:spPr>
          <a:xfrm>
            <a:off x="3712464" y="3154680"/>
            <a:ext cx="1920240" cy="1115568"/>
          </a:xfrm>
          <a:prstGeom prst="rect">
            <a:avLst/>
          </a:prstGeom>
          <a:noFill/>
          <a:ln/>
        </p:spPr>
        <p:txBody>
          <a:bodyPr wrap="square" lIns="0" tIns="0" rIns="0" bIns="0" rtlCol="0" anchor="ctr"/>
          <a:lstStyle/>
          <a:p>
            <a:pPr marL="0" indent="0" algn="ctr">
              <a:buNone/>
            </a:pPr>
            <a:r>
              <a:rPr lang="en-US" sz="1100" dirty="0">
                <a:solidFill>
                  <a:srgbClr val="A8B7C8"/>
                </a:solidFill>
              </a:rPr>
              <a:t>Mọi [En] phải trỏ tới evidence thật. </a:t>
            </a:r>
            <a:endParaRPr lang="en-US" sz="1100" dirty="0"/>
          </a:p>
        </p:txBody>
      </p:sp>
      <p:sp>
        <p:nvSpPr>
          <p:cNvPr id="12" name="Shape 10"/>
          <p:cNvSpPr/>
          <p:nvPr/>
        </p:nvSpPr>
        <p:spPr>
          <a:xfrm>
            <a:off x="6345936" y="1691640"/>
            <a:ext cx="2423160" cy="3429000"/>
          </a:xfrm>
          <a:prstGeom prst="roundRect">
            <a:avLst>
              <a:gd name="adj" fmla="val 2264"/>
            </a:avLst>
          </a:prstGeom>
          <a:solidFill>
            <a:srgbClr val="0D1B2B"/>
          </a:solidFill>
          <a:ln w="16510">
            <a:solidFill>
              <a:srgbClr val="916CFF"/>
            </a:solidFill>
            <a:prstDash val="solid"/>
          </a:ln>
        </p:spPr>
      </p:sp>
      <p:sp>
        <p:nvSpPr>
          <p:cNvPr id="13" name="Text 11"/>
          <p:cNvSpPr/>
          <p:nvPr/>
        </p:nvSpPr>
        <p:spPr>
          <a:xfrm>
            <a:off x="6528816" y="1901952"/>
            <a:ext cx="365760" cy="219456"/>
          </a:xfrm>
          <a:prstGeom prst="rect">
            <a:avLst/>
          </a:prstGeom>
          <a:noFill/>
          <a:ln/>
        </p:spPr>
        <p:txBody>
          <a:bodyPr wrap="square" lIns="0" tIns="0" rIns="0" bIns="0" rtlCol="0" anchor="ctr"/>
          <a:lstStyle/>
          <a:p>
            <a:pPr marL="0" indent="0">
              <a:buNone/>
            </a:pPr>
            <a:r>
              <a:rPr lang="en-US" sz="1100" b="1" dirty="0">
                <a:solidFill>
                  <a:srgbClr val="916CFF"/>
                </a:solidFill>
              </a:rPr>
              <a:t>03</a:t>
            </a:r>
            <a:endParaRPr lang="en-US" sz="1100" dirty="0"/>
          </a:p>
        </p:txBody>
      </p:sp>
      <p:sp>
        <p:nvSpPr>
          <p:cNvPr id="14" name="Text 12"/>
          <p:cNvSpPr/>
          <p:nvPr/>
        </p:nvSpPr>
        <p:spPr>
          <a:xfrm>
            <a:off x="6528816" y="2414016"/>
            <a:ext cx="2057400" cy="320040"/>
          </a:xfrm>
          <a:prstGeom prst="rect">
            <a:avLst/>
          </a:prstGeom>
          <a:noFill/>
          <a:ln/>
        </p:spPr>
        <p:txBody>
          <a:bodyPr wrap="square" lIns="0" tIns="0" rIns="0" bIns="0" rtlCol="0" anchor="ctr"/>
          <a:lstStyle/>
          <a:p>
            <a:pPr marL="0" indent="0" algn="ctr">
              <a:buNone/>
            </a:pPr>
            <a:r>
              <a:rPr lang="en-US" sz="1500" b="1" dirty="0">
                <a:solidFill>
                  <a:srgbClr val="F4F8FC"/>
                </a:solidFill>
              </a:rPr>
              <a:t>ĐỐI CHIẾU</a:t>
            </a:r>
            <a:endParaRPr lang="en-US" sz="1500" dirty="0"/>
          </a:p>
        </p:txBody>
      </p:sp>
      <p:sp>
        <p:nvSpPr>
          <p:cNvPr id="15" name="Text 13"/>
          <p:cNvSpPr/>
          <p:nvPr/>
        </p:nvSpPr>
        <p:spPr>
          <a:xfrm>
            <a:off x="6601968" y="3154680"/>
            <a:ext cx="1920240" cy="1115568"/>
          </a:xfrm>
          <a:prstGeom prst="rect">
            <a:avLst/>
          </a:prstGeom>
          <a:noFill/>
          <a:ln/>
        </p:spPr>
        <p:txBody>
          <a:bodyPr wrap="square" lIns="0" tIns="0" rIns="0" bIns="0" rtlCol="0" anchor="ctr"/>
          <a:lstStyle/>
          <a:p>
            <a:pPr marL="0" indent="0" algn="ctr">
              <a:buNone/>
            </a:pPr>
            <a:r>
              <a:rPr lang="en-US" sz="1100" dirty="0">
                <a:solidFill>
                  <a:srgbClr val="A8B7C8"/>
                </a:solidFill>
              </a:rPr>
              <a:t>LLM đọc source độc lập rồi so với parser, báo % đồng thuận và điểm lệch.</a:t>
            </a:r>
            <a:endParaRPr lang="en-US" sz="1100" dirty="0"/>
          </a:p>
        </p:txBody>
      </p:sp>
      <p:sp>
        <p:nvSpPr>
          <p:cNvPr id="16" name="Shape 14"/>
          <p:cNvSpPr/>
          <p:nvPr/>
        </p:nvSpPr>
        <p:spPr>
          <a:xfrm>
            <a:off x="9235440" y="1691640"/>
            <a:ext cx="2423160" cy="3429000"/>
          </a:xfrm>
          <a:prstGeom prst="roundRect">
            <a:avLst>
              <a:gd name="adj" fmla="val 2264"/>
            </a:avLst>
          </a:prstGeom>
          <a:solidFill>
            <a:srgbClr val="0D1B2B"/>
          </a:solidFill>
          <a:ln w="16510">
            <a:solidFill>
              <a:srgbClr val="FFB84D"/>
            </a:solidFill>
            <a:prstDash val="solid"/>
          </a:ln>
        </p:spPr>
      </p:sp>
      <p:sp>
        <p:nvSpPr>
          <p:cNvPr id="17" name="Text 15"/>
          <p:cNvSpPr/>
          <p:nvPr/>
        </p:nvSpPr>
        <p:spPr>
          <a:xfrm>
            <a:off x="9418320" y="1901952"/>
            <a:ext cx="365760" cy="219456"/>
          </a:xfrm>
          <a:prstGeom prst="rect">
            <a:avLst/>
          </a:prstGeom>
          <a:noFill/>
          <a:ln/>
        </p:spPr>
        <p:txBody>
          <a:bodyPr wrap="square" lIns="0" tIns="0" rIns="0" bIns="0" rtlCol="0" anchor="ctr"/>
          <a:lstStyle/>
          <a:p>
            <a:pPr marL="0" indent="0">
              <a:buNone/>
            </a:pPr>
            <a:r>
              <a:rPr lang="en-US" sz="1100" b="1" dirty="0">
                <a:solidFill>
                  <a:srgbClr val="FFB84D"/>
                </a:solidFill>
              </a:rPr>
              <a:t>04</a:t>
            </a:r>
            <a:endParaRPr lang="en-US" sz="1100" dirty="0"/>
          </a:p>
        </p:txBody>
      </p:sp>
      <p:sp>
        <p:nvSpPr>
          <p:cNvPr id="18" name="Text 16"/>
          <p:cNvSpPr/>
          <p:nvPr/>
        </p:nvSpPr>
        <p:spPr>
          <a:xfrm>
            <a:off x="9418320" y="2414016"/>
            <a:ext cx="2057400" cy="320040"/>
          </a:xfrm>
          <a:prstGeom prst="rect">
            <a:avLst/>
          </a:prstGeom>
          <a:noFill/>
          <a:ln/>
        </p:spPr>
        <p:txBody>
          <a:bodyPr wrap="square" lIns="0" tIns="0" rIns="0" bIns="0" rtlCol="0" anchor="ctr"/>
          <a:lstStyle/>
          <a:p>
            <a:pPr marL="0" indent="0" algn="ctr">
              <a:buNone/>
            </a:pPr>
            <a:r>
              <a:rPr lang="en-US" sz="1500" b="1" dirty="0">
                <a:solidFill>
                  <a:srgbClr val="F4F8FC"/>
                </a:solidFill>
              </a:rPr>
              <a:t>NÓI CHỖ MỜ</a:t>
            </a:r>
            <a:endParaRPr lang="en-US" sz="1500" dirty="0"/>
          </a:p>
        </p:txBody>
      </p:sp>
      <p:sp>
        <p:nvSpPr>
          <p:cNvPr id="19" name="Text 17"/>
          <p:cNvSpPr/>
          <p:nvPr/>
        </p:nvSpPr>
        <p:spPr>
          <a:xfrm>
            <a:off x="9491472" y="3154680"/>
            <a:ext cx="1920240" cy="1115568"/>
          </a:xfrm>
          <a:prstGeom prst="rect">
            <a:avLst/>
          </a:prstGeom>
          <a:noFill/>
          <a:ln/>
        </p:spPr>
        <p:txBody>
          <a:bodyPr wrap="square" lIns="0" tIns="0" rIns="0" bIns="0" rtlCol="0" anchor="ctr"/>
          <a:lstStyle/>
          <a:p>
            <a:pPr marL="0" indent="0" algn="ctr">
              <a:buNone/>
            </a:pPr>
            <a:r>
              <a:rPr lang="en-US" sz="1100" dirty="0">
                <a:solidFill>
                  <a:srgbClr val="A8B7C8"/>
                </a:solidFill>
              </a:rPr>
              <a:t>Unknown và giới hạn được đặt trước sơ đồ, không giấu ở phụ lục.</a:t>
            </a:r>
            <a:endParaRPr lang="en-US" sz="1100" dirty="0"/>
          </a:p>
        </p:txBody>
      </p:sp>
      <p:sp>
        <p:nvSpPr>
          <p:cNvPr id="20" name="Shape 18"/>
          <p:cNvSpPr/>
          <p:nvPr/>
        </p:nvSpPr>
        <p:spPr>
          <a:xfrm>
            <a:off x="1234440" y="5504688"/>
            <a:ext cx="9738360" cy="502920"/>
          </a:xfrm>
          <a:prstGeom prst="roundRect">
            <a:avLst>
              <a:gd name="adj" fmla="val 9091"/>
            </a:avLst>
          </a:prstGeom>
          <a:solidFill>
            <a:srgbClr val="102D2A"/>
          </a:solidFill>
          <a:ln w="12700">
            <a:solidFill>
              <a:srgbClr val="37D996"/>
            </a:solidFill>
            <a:prstDash val="solid"/>
          </a:ln>
        </p:spPr>
      </p:sp>
      <p:sp>
        <p:nvSpPr>
          <p:cNvPr id="21" name="Text 19"/>
          <p:cNvSpPr/>
          <p:nvPr/>
        </p:nvSpPr>
        <p:spPr>
          <a:xfrm>
            <a:off x="1463040" y="5650992"/>
            <a:ext cx="9281160" cy="201168"/>
          </a:xfrm>
          <a:prstGeom prst="rect">
            <a:avLst/>
          </a:prstGeom>
          <a:noFill/>
          <a:ln/>
        </p:spPr>
        <p:txBody>
          <a:bodyPr wrap="square" lIns="0" tIns="0" rIns="0" bIns="0" rtlCol="0" anchor="ctr"/>
          <a:lstStyle/>
          <a:p>
            <a:pPr marL="0" indent="0" algn="ctr">
              <a:buNone/>
            </a:pPr>
            <a:r>
              <a:rPr lang="en-US" sz="1600" b="1" dirty="0">
                <a:solidFill>
                  <a:srgbClr val="37D996"/>
                </a:solidFill>
              </a:rPr>
              <a:t>AI là trợ lý bị giám sát, không phải nguồn sự thật.</a:t>
            </a:r>
            <a:endParaRPr lang="en-US" sz="1600" dirty="0"/>
          </a:p>
        </p:txBody>
      </p:sp>
      <p:sp>
        <p:nvSpPr>
          <p:cNvPr id="25" name="Slide Number Placeholder 0"/>
          <p:cNvSpPr>
            <a:spLocks noGrp="1"/>
          </p:cNvSpPr>
          <p:nvPr>
            <p:ph type="sldNum" sz="quarter" idx="4294967295"/>
          </p:nvPr>
        </p:nvSpPr>
        <p:spPr>
          <a:xfrm>
            <a:off x="11768328" y="6492240"/>
            <a:ext cx="182880" cy="137160"/>
          </a:xfrm>
          <a:prstGeom prst="rect">
            <a:avLst/>
          </a:prstGeom>
          <a:extLst>
            <a:ext uri="{C572A759-6A51-4108-AA02-DFA0A04FC94B}">
              <ma14:wrappingTextBoxFlag xmlns:ma14="http://schemas.microsoft.com/office/mac/drawingml/2011/main" xmlns="" val="0"/>
            </a:ext>
          </a:extLst>
        </p:spPr>
        <p:txBody>
          <a:bodyPr lIns="0" tIns="0" rIns="0" bIns="0"/>
          <a:lstStyle>
            <a:lvl1pPr>
              <a:defRPr sz="800">
                <a:solidFill>
                  <a:srgbClr val="667D96"/>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1" cy="1"/>
          <a:chOff x="0" y="0"/>
          <a:chExt cx="1" cy="1"/>
        </a:xfrm>
      </p:grpSpPr>
      <p:sp>
        <p:nvSpPr>
          <p:cNvPr id="2" name="Text 0"/>
          <p:cNvSpPr/>
          <p:nvPr/>
        </p:nvSpPr>
        <p:spPr>
          <a:xfrm>
            <a:off x="512064" y="356616"/>
            <a:ext cx="4572000" cy="182880"/>
          </a:xfrm>
          <a:prstGeom prst="rect">
            <a:avLst/>
          </a:prstGeom>
          <a:noFill/>
          <a:ln/>
        </p:spPr>
        <p:txBody>
          <a:bodyPr wrap="square" lIns="0" tIns="0" rIns="0" bIns="0" rtlCol="0" anchor="ctr"/>
          <a:lstStyle/>
          <a:p>
            <a:pPr marL="0" indent="0">
              <a:buNone/>
            </a:pPr>
            <a:r>
              <a:rPr lang="en-US" sz="850" b="1" kern="0" spc="170" dirty="0">
                <a:solidFill>
                  <a:srgbClr val="28D7F2"/>
                </a:solidFill>
              </a:rPr>
              <a:t>06 | KIẾN TRÚC</a:t>
            </a:r>
            <a:endParaRPr lang="en-US" sz="850" dirty="0"/>
          </a:p>
        </p:txBody>
      </p:sp>
      <p:sp>
        <p:nvSpPr>
          <p:cNvPr id="3" name="Text 1"/>
          <p:cNvSpPr/>
          <p:nvPr/>
        </p:nvSpPr>
        <p:spPr>
          <a:xfrm>
            <a:off x="512064" y="640080"/>
            <a:ext cx="11064240" cy="475488"/>
          </a:xfrm>
          <a:prstGeom prst="rect">
            <a:avLst/>
          </a:prstGeom>
          <a:noFill/>
          <a:ln/>
        </p:spPr>
        <p:txBody>
          <a:bodyPr wrap="square" lIns="0" tIns="0" rIns="0" bIns="0" rtlCol="0" anchor="ctr"/>
          <a:lstStyle/>
          <a:p>
            <a:pPr marL="0" indent="0">
              <a:buNone/>
            </a:pPr>
            <a:r>
              <a:rPr lang="en-US" sz="2600" b="1" dirty="0">
                <a:solidFill>
                  <a:srgbClr val="F4F8FC"/>
                </a:solidFill>
              </a:rPr>
              <a:t>Hai nhánh tách đôi có chủ đích: deterministic core và optional AI</a:t>
            </a:r>
            <a:endParaRPr lang="en-US" sz="2600" dirty="0"/>
          </a:p>
        </p:txBody>
      </p:sp>
      <p:sp>
        <p:nvSpPr>
          <p:cNvPr id="4" name="Shape 2"/>
          <p:cNvSpPr/>
          <p:nvPr/>
        </p:nvSpPr>
        <p:spPr>
          <a:xfrm>
            <a:off x="640080" y="1572768"/>
            <a:ext cx="1965960" cy="310896"/>
          </a:xfrm>
          <a:prstGeom prst="roundRect">
            <a:avLst>
              <a:gd name="adj" fmla="val 14706"/>
            </a:avLst>
          </a:prstGeom>
          <a:solidFill>
            <a:srgbClr val="28D7F2">
              <a:alpha val="15000"/>
            </a:srgbClr>
          </a:solidFill>
          <a:ln w="12700">
            <a:solidFill>
              <a:srgbClr val="28D7F2">
                <a:alpha val="75000"/>
              </a:srgbClr>
            </a:solidFill>
            <a:prstDash val="solid"/>
          </a:ln>
        </p:spPr>
      </p:sp>
      <p:sp>
        <p:nvSpPr>
          <p:cNvPr id="5" name="Text 3"/>
          <p:cNvSpPr/>
          <p:nvPr/>
        </p:nvSpPr>
        <p:spPr>
          <a:xfrm>
            <a:off x="713232" y="1645920"/>
            <a:ext cx="1819656" cy="128016"/>
          </a:xfrm>
          <a:prstGeom prst="rect">
            <a:avLst/>
          </a:prstGeom>
          <a:noFill/>
          <a:ln/>
        </p:spPr>
        <p:txBody>
          <a:bodyPr wrap="square" lIns="0" tIns="0" rIns="0" bIns="0" rtlCol="0" anchor="ctr"/>
          <a:lstStyle/>
          <a:p>
            <a:pPr marL="0" indent="0" algn="ctr">
              <a:buNone/>
            </a:pPr>
            <a:r>
              <a:rPr lang="en-US" sz="880" b="1" dirty="0">
                <a:solidFill>
                  <a:srgbClr val="28D7F2"/>
                </a:solidFill>
              </a:rPr>
              <a:t>REST + CHAT TIẾNG VIỆT</a:t>
            </a:r>
            <a:endParaRPr lang="en-US" sz="880" dirty="0"/>
          </a:p>
        </p:txBody>
      </p:sp>
      <p:sp>
        <p:nvSpPr>
          <p:cNvPr id="6" name="Shape 4"/>
          <p:cNvSpPr/>
          <p:nvPr/>
        </p:nvSpPr>
        <p:spPr>
          <a:xfrm>
            <a:off x="2697480" y="1737360"/>
            <a:ext cx="658368" cy="1"/>
          </a:xfrm>
          <a:prstGeom prst="line">
            <a:avLst/>
          </a:prstGeom>
          <a:noFill/>
          <a:ln w="25400">
            <a:solidFill>
              <a:srgbClr val="28D7F2"/>
            </a:solidFill>
            <a:prstDash val="solid"/>
            <a:tailEnd type="triangle"/>
          </a:ln>
        </p:spPr>
      </p:sp>
      <p:sp>
        <p:nvSpPr>
          <p:cNvPr id="7" name="Text 5"/>
          <p:cNvSpPr/>
          <p:nvPr/>
        </p:nvSpPr>
        <p:spPr>
          <a:xfrm>
            <a:off x="3730752" y="1664208"/>
            <a:ext cx="4023360" cy="274320"/>
          </a:xfrm>
          <a:prstGeom prst="rect">
            <a:avLst/>
          </a:prstGeom>
          <a:noFill/>
          <a:ln/>
        </p:spPr>
        <p:txBody>
          <a:bodyPr wrap="square" lIns="0" tIns="0" rIns="0" bIns="0" rtlCol="0" anchor="ctr"/>
          <a:lstStyle/>
          <a:p>
            <a:pPr marL="0" indent="0">
              <a:buNone/>
            </a:pPr>
            <a:r>
              <a:rPr lang="en-US" sz="1600" b="1" dirty="0">
                <a:solidFill>
                  <a:srgbClr val="F4F8FC"/>
                </a:solidFill>
              </a:rPr>
              <a:t>Agent · Spring Boot 4 · Java 21</a:t>
            </a:r>
            <a:endParaRPr lang="en-US" sz="1600" dirty="0"/>
          </a:p>
        </p:txBody>
      </p:sp>
      <p:sp>
        <p:nvSpPr>
          <p:cNvPr id="8" name="Shape 6"/>
          <p:cNvSpPr/>
          <p:nvPr/>
        </p:nvSpPr>
        <p:spPr>
          <a:xfrm>
            <a:off x="3730752" y="2157984"/>
            <a:ext cx="3474720" cy="3017520"/>
          </a:xfrm>
          <a:prstGeom prst="roundRect">
            <a:avLst>
              <a:gd name="adj" fmla="val 1515"/>
            </a:avLst>
          </a:prstGeom>
          <a:solidFill>
            <a:srgbClr val="0D1B2B"/>
          </a:solidFill>
          <a:ln w="13970">
            <a:solidFill>
              <a:srgbClr val="28D7F2"/>
            </a:solidFill>
            <a:prstDash val="solid"/>
          </a:ln>
        </p:spPr>
      </p:sp>
      <p:sp>
        <p:nvSpPr>
          <p:cNvPr id="9" name="Text 7"/>
          <p:cNvSpPr/>
          <p:nvPr/>
        </p:nvSpPr>
        <p:spPr>
          <a:xfrm>
            <a:off x="3977640" y="2395728"/>
            <a:ext cx="2971800" cy="219456"/>
          </a:xfrm>
          <a:prstGeom prst="rect">
            <a:avLst/>
          </a:prstGeom>
          <a:noFill/>
          <a:ln/>
        </p:spPr>
        <p:txBody>
          <a:bodyPr wrap="square" lIns="0" tIns="0" rIns="0" bIns="0" rtlCol="0" anchor="ctr"/>
          <a:lstStyle/>
          <a:p>
            <a:pPr marL="0" indent="0" algn="ctr">
              <a:buNone/>
            </a:pPr>
            <a:r>
              <a:rPr lang="en-US" sz="1100" b="1" dirty="0">
                <a:solidFill>
                  <a:srgbClr val="28D7F2"/>
                </a:solidFill>
              </a:rPr>
              <a:t>PHẦN TẤT ĐỊNH</a:t>
            </a:r>
            <a:endParaRPr lang="en-US" sz="1100" dirty="0"/>
          </a:p>
        </p:txBody>
      </p:sp>
      <p:sp>
        <p:nvSpPr>
          <p:cNvPr id="10" name="Text 8"/>
          <p:cNvSpPr/>
          <p:nvPr/>
        </p:nvSpPr>
        <p:spPr>
          <a:xfrm>
            <a:off x="4096512" y="2852928"/>
            <a:ext cx="2724912" cy="1737360"/>
          </a:xfrm>
          <a:prstGeom prst="rect">
            <a:avLst/>
          </a:prstGeom>
          <a:noFill/>
          <a:ln/>
        </p:spPr>
        <p:txBody>
          <a:bodyPr wrap="square" lIns="0" tIns="0" rIns="0" bIns="0" rtlCol="0" anchor="ctr"/>
          <a:lstStyle/>
          <a:p>
            <a:pPr marL="0" indent="0">
              <a:buNone/>
            </a:pPr>
            <a:r>
              <a:rPr lang="en-US" sz="1080" dirty="0">
                <a:solidFill>
                  <a:srgbClr val="F4F8FC"/>
                </a:solidFill>
              </a:rPr>
              <a:t>JGit shallow clone</a:t>
            </a:r>
            <a:endParaRPr lang="en-US" sz="1080" dirty="0"/>
          </a:p>
          <a:p>
            <a:pPr marL="0" indent="0">
              <a:buNone/>
            </a:pPr>
            <a:r>
              <a:rPr lang="en-US" sz="1080" dirty="0">
                <a:solidFill>
                  <a:srgbClr val="F4F8FC"/>
                </a:solidFill>
              </a:rPr>
              <a:t>JavaParser + symbol solver</a:t>
            </a:r>
            <a:endParaRPr lang="en-US" sz="1080" dirty="0"/>
          </a:p>
          <a:p>
            <a:pPr marL="0" indent="0">
              <a:buNone/>
            </a:pPr>
            <a:r>
              <a:rPr lang="en-US" sz="1080" dirty="0">
                <a:solidFill>
                  <a:srgbClr val="F4F8FC"/>
                </a:solidFill>
              </a:rPr>
              <a:t>EndpointScanner</a:t>
            </a:r>
            <a:endParaRPr lang="en-US" sz="1080" dirty="0"/>
          </a:p>
          <a:p>
            <a:pPr marL="0" indent="0">
              <a:buNone/>
            </a:pPr>
            <a:r>
              <a:rPr lang="en-US" sz="1080" dirty="0">
                <a:solidFill>
                  <a:srgbClr val="F4F8FC"/>
                </a:solidFill>
              </a:rPr>
              <a:t>CallFlowBuilder</a:t>
            </a:r>
            <a:endParaRPr lang="en-US" sz="1080" dirty="0"/>
          </a:p>
          <a:p>
            <a:pPr marL="0" indent="0">
              <a:buNone/>
            </a:pPr>
            <a:r>
              <a:rPr lang="en-US" sz="1080" dirty="0">
                <a:solidFill>
                  <a:srgbClr val="F4F8FC"/>
                </a:solidFill>
              </a:rPr>
              <a:t>EvidenceCollector</a:t>
            </a:r>
            <a:endParaRPr lang="en-US" sz="1080" dirty="0"/>
          </a:p>
          <a:p>
            <a:pPr marL="0" indent="0">
              <a:buNone/>
            </a:pPr>
            <a:r>
              <a:rPr lang="en-US" sz="1080" dirty="0">
                <a:solidFill>
                  <a:srgbClr val="F4F8FC"/>
                </a:solidFill>
              </a:rPr>
              <a:t>StoredProcedureScanner</a:t>
            </a:r>
            <a:endParaRPr lang="en-US" sz="1080" dirty="0"/>
          </a:p>
          <a:p>
            <a:pPr marL="0" indent="0">
              <a:buNone/>
            </a:pPr>
            <a:r>
              <a:rPr lang="en-US" sz="1080" dirty="0">
                <a:solidFill>
                  <a:srgbClr val="F4F8FC"/>
                </a:solidFill>
              </a:rPr>
              <a:t>ErrorCodeScanner</a:t>
            </a:r>
            <a:endParaRPr lang="en-US" sz="1080" dirty="0"/>
          </a:p>
        </p:txBody>
      </p:sp>
      <p:sp>
        <p:nvSpPr>
          <p:cNvPr id="11" name="Shape 9"/>
          <p:cNvSpPr/>
          <p:nvPr/>
        </p:nvSpPr>
        <p:spPr>
          <a:xfrm>
            <a:off x="7479792" y="2157984"/>
            <a:ext cx="3456432" cy="3017520"/>
          </a:xfrm>
          <a:prstGeom prst="roundRect">
            <a:avLst>
              <a:gd name="adj" fmla="val 1515"/>
            </a:avLst>
          </a:prstGeom>
          <a:solidFill>
            <a:srgbClr val="0D1B2B"/>
          </a:solidFill>
          <a:ln w="13970">
            <a:solidFill>
              <a:srgbClr val="916CFF"/>
            </a:solidFill>
            <a:prstDash val="solid"/>
          </a:ln>
        </p:spPr>
      </p:sp>
      <p:sp>
        <p:nvSpPr>
          <p:cNvPr id="12" name="Text 10"/>
          <p:cNvSpPr/>
          <p:nvPr/>
        </p:nvSpPr>
        <p:spPr>
          <a:xfrm>
            <a:off x="7680960" y="2395728"/>
            <a:ext cx="3063240" cy="219456"/>
          </a:xfrm>
          <a:prstGeom prst="rect">
            <a:avLst/>
          </a:prstGeom>
          <a:noFill/>
          <a:ln/>
        </p:spPr>
        <p:txBody>
          <a:bodyPr wrap="square" lIns="0" tIns="0" rIns="0" bIns="0" rtlCol="0" anchor="ctr"/>
          <a:lstStyle/>
          <a:p>
            <a:pPr marL="0" indent="0" algn="ctr">
              <a:buNone/>
            </a:pPr>
            <a:r>
              <a:rPr lang="en-US" sz="1100" b="1" dirty="0">
                <a:solidFill>
                  <a:srgbClr val="916CFF"/>
                </a:solidFill>
              </a:rPr>
              <a:t>PHẦN AI · MẶC ĐỊNH TẮT</a:t>
            </a:r>
            <a:endParaRPr lang="en-US" sz="1100" dirty="0"/>
          </a:p>
        </p:txBody>
      </p:sp>
      <p:sp>
        <p:nvSpPr>
          <p:cNvPr id="13" name="Text 11"/>
          <p:cNvSpPr/>
          <p:nvPr/>
        </p:nvSpPr>
        <p:spPr>
          <a:xfrm>
            <a:off x="7882128" y="2880360"/>
            <a:ext cx="2651760" cy="1645920"/>
          </a:xfrm>
          <a:prstGeom prst="rect">
            <a:avLst/>
          </a:prstGeom>
          <a:noFill/>
          <a:ln/>
        </p:spPr>
        <p:txBody>
          <a:bodyPr wrap="square" lIns="0" tIns="0" rIns="0" bIns="0" rtlCol="0" anchor="ctr"/>
          <a:lstStyle/>
          <a:p>
            <a:pPr marL="0" indent="0">
              <a:buNone/>
            </a:pPr>
            <a:r>
              <a:rPr lang="en-US" sz="1080" dirty="0">
                <a:solidFill>
                  <a:srgbClr val="F4F8FC"/>
                </a:solidFill>
              </a:rPr>
              <a:t>SpecNarrator</a:t>
            </a:r>
            <a:endParaRPr lang="en-US" sz="1080" dirty="0"/>
          </a:p>
          <a:p>
            <a:pPr marL="0" indent="0">
              <a:buNone/>
            </a:pPr>
            <a:r>
              <a:rPr lang="en-US" sz="1080" dirty="0">
                <a:solidFill>
                  <a:srgbClr val="F4F8FC"/>
                </a:solidFill>
              </a:rPr>
              <a:t>LlmFlowProposer</a:t>
            </a:r>
            <a:endParaRPr lang="en-US" sz="1080" dirty="0"/>
          </a:p>
          <a:p>
            <a:pPr marL="0" indent="0">
              <a:buNone/>
            </a:pPr>
            <a:r>
              <a:rPr lang="en-US" sz="1080" dirty="0">
                <a:solidFill>
                  <a:srgbClr val="F4F8FC"/>
                </a:solidFill>
              </a:rPr>
              <a:t>CitationValidator</a:t>
            </a:r>
            <a:endParaRPr lang="en-US" sz="1080" dirty="0"/>
          </a:p>
          <a:p>
            <a:pPr marL="0" indent="0">
              <a:buNone/>
            </a:pPr>
            <a:r>
              <a:rPr lang="en-US" sz="1080" dirty="0">
                <a:solidFill>
                  <a:srgbClr val="F4F8FC"/>
                </a:solidFill>
              </a:rPr>
              <a:t>AiResultCache</a:t>
            </a:r>
            <a:endParaRPr lang="en-US" sz="1080" dirty="0"/>
          </a:p>
          <a:p>
            <a:pPr marL="0" indent="0">
              <a:buNone/>
            </a:pPr>
            <a:endParaRPr lang="en-US" sz="1080" dirty="0"/>
          </a:p>
          <a:p>
            <a:pPr marL="0" indent="0">
              <a:buNone/>
            </a:pPr>
            <a:r>
              <a:rPr lang="en-US" sz="1080" dirty="0">
                <a:solidFill>
                  <a:srgbClr val="F4F8FC"/>
                </a:solidFill>
              </a:rPr>
              <a:t>Nếu tắt AI, sản phẩm vẫn dùng được.</a:t>
            </a:r>
            <a:endParaRPr lang="en-US" sz="1080" dirty="0"/>
          </a:p>
        </p:txBody>
      </p:sp>
      <p:sp>
        <p:nvSpPr>
          <p:cNvPr id="14" name="Shape 12"/>
          <p:cNvSpPr/>
          <p:nvPr/>
        </p:nvSpPr>
        <p:spPr>
          <a:xfrm>
            <a:off x="4315968" y="5321808"/>
            <a:ext cx="5806440" cy="475488"/>
          </a:xfrm>
          <a:prstGeom prst="roundRect">
            <a:avLst>
              <a:gd name="adj" fmla="val 7692"/>
            </a:avLst>
          </a:prstGeom>
          <a:solidFill>
            <a:srgbClr val="10283B"/>
          </a:solidFill>
          <a:ln w="12700">
            <a:solidFill>
              <a:srgbClr val="37D996"/>
            </a:solidFill>
            <a:prstDash val="solid"/>
          </a:ln>
        </p:spPr>
      </p:sp>
      <p:sp>
        <p:nvSpPr>
          <p:cNvPr id="15" name="Text 13"/>
          <p:cNvSpPr/>
          <p:nvPr/>
        </p:nvSpPr>
        <p:spPr>
          <a:xfrm>
            <a:off x="4526280" y="5477256"/>
            <a:ext cx="5394960" cy="164592"/>
          </a:xfrm>
          <a:prstGeom prst="rect">
            <a:avLst/>
          </a:prstGeom>
          <a:noFill/>
          <a:ln/>
        </p:spPr>
        <p:txBody>
          <a:bodyPr wrap="square" lIns="0" tIns="0" rIns="0" bIns="0" rtlCol="0" anchor="ctr"/>
          <a:lstStyle/>
          <a:p>
            <a:pPr marL="0" indent="0" algn="ctr">
              <a:buNone/>
            </a:pPr>
            <a:r>
              <a:rPr lang="en-US" sz="1150" b="1" dirty="0">
                <a:solidFill>
                  <a:srgbClr val="37D996"/>
                </a:solidFill>
              </a:rPr>
              <a:t>Renderers: HTML · Markdown · PlantUML · Mermaid</a:t>
            </a:r>
            <a:endParaRPr lang="en-US" sz="1150" dirty="0"/>
          </a:p>
        </p:txBody>
      </p:sp>
      <p:sp>
        <p:nvSpPr>
          <p:cNvPr id="16" name="Shape 14"/>
          <p:cNvSpPr/>
          <p:nvPr/>
        </p:nvSpPr>
        <p:spPr>
          <a:xfrm>
            <a:off x="7315200" y="5852160"/>
            <a:ext cx="1" cy="393192"/>
          </a:xfrm>
          <a:prstGeom prst="line">
            <a:avLst/>
          </a:prstGeom>
          <a:noFill/>
          <a:ln w="25400">
            <a:solidFill>
              <a:srgbClr val="916CFF"/>
            </a:solidFill>
            <a:prstDash val="solid"/>
            <a:tailEnd type="triangle"/>
          </a:ln>
        </p:spPr>
      </p:sp>
      <p:sp>
        <p:nvSpPr>
          <p:cNvPr id="17" name="Text 15"/>
          <p:cNvSpPr/>
          <p:nvPr/>
        </p:nvSpPr>
        <p:spPr>
          <a:xfrm>
            <a:off x="5577840" y="6144768"/>
            <a:ext cx="3474720" cy="182880"/>
          </a:xfrm>
          <a:prstGeom prst="rect">
            <a:avLst/>
          </a:prstGeom>
          <a:noFill/>
          <a:ln/>
        </p:spPr>
        <p:txBody>
          <a:bodyPr wrap="square" lIns="0" tIns="0" rIns="0" bIns="0" rtlCol="0" anchor="ctr"/>
          <a:lstStyle/>
          <a:p>
            <a:pPr marL="0" indent="0" algn="ctr">
              <a:buNone/>
            </a:pPr>
            <a:r>
              <a:rPr lang="en-US" sz="1050" b="1" dirty="0">
                <a:solidFill>
                  <a:srgbClr val="916CFF"/>
                </a:solidFill>
              </a:rPr>
              <a:t>GreenNode MaaS · z-ai/glm-5.2-hackathon</a:t>
            </a:r>
            <a:endParaRPr lang="en-US" sz="1050" dirty="0"/>
          </a:p>
        </p:txBody>
      </p:sp>
      <p:sp>
        <p:nvSpPr>
          <p:cNvPr id="18" name="Text 16"/>
          <p:cNvSpPr/>
          <p:nvPr/>
        </p:nvSpPr>
        <p:spPr>
          <a:xfrm>
            <a:off x="658368" y="6053328"/>
            <a:ext cx="4480560" cy="320040"/>
          </a:xfrm>
          <a:prstGeom prst="rect">
            <a:avLst/>
          </a:prstGeom>
          <a:noFill/>
          <a:ln/>
        </p:spPr>
        <p:txBody>
          <a:bodyPr wrap="square" lIns="0" tIns="0" rIns="0" bIns="0" rtlCol="0" anchor="ctr"/>
          <a:lstStyle/>
          <a:p>
            <a:pPr marL="0" indent="0">
              <a:buNone/>
            </a:pPr>
            <a:r>
              <a:rPr lang="en-US" sz="880" dirty="0">
                <a:solidFill>
                  <a:srgbClr val="A8B7C8"/>
                </a:solidFill>
              </a:rPr>
              <a:t>STACK  Java 21 · Spring Boot 4.1.1 · Spring AI 2.0.1 · JGit 7.8 · JavaParser 3.28</a:t>
            </a:r>
            <a:endParaRPr lang="en-US" sz="880" dirty="0"/>
          </a:p>
        </p:txBody>
      </p:sp>
      <p:sp>
        <p:nvSpPr>
          <p:cNvPr id="25" name="Slide Number Placeholder 0"/>
          <p:cNvSpPr>
            <a:spLocks noGrp="1"/>
          </p:cNvSpPr>
          <p:nvPr>
            <p:ph type="sldNum" sz="quarter" idx="4294967295"/>
          </p:nvPr>
        </p:nvSpPr>
        <p:spPr>
          <a:xfrm>
            <a:off x="11768328" y="6492240"/>
            <a:ext cx="182880" cy="137160"/>
          </a:xfrm>
          <a:prstGeom prst="rect">
            <a:avLst/>
          </a:prstGeom>
          <a:extLst>
            <a:ext uri="{C572A759-6A51-4108-AA02-DFA0A04FC94B}">
              <ma14:wrappingTextBoxFlag xmlns:ma14="http://schemas.microsoft.com/office/mac/drawingml/2011/main" xmlns="" val="0"/>
            </a:ext>
          </a:extLst>
        </p:spPr>
        <p:txBody>
          <a:bodyPr lIns="0" tIns="0" rIns="0" bIns="0"/>
          <a:lstStyle>
            <a:lvl1pPr>
              <a:defRPr sz="800">
                <a:solidFill>
                  <a:srgbClr val="667D96"/>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1" cy="1"/>
          <a:chOff x="0" y="0"/>
          <a:chExt cx="1" cy="1"/>
        </a:xfrm>
      </p:grpSpPr>
      <p:sp>
        <p:nvSpPr>
          <p:cNvPr id="2" name="Text 0"/>
          <p:cNvSpPr/>
          <p:nvPr/>
        </p:nvSpPr>
        <p:spPr>
          <a:xfrm>
            <a:off x="512064" y="356616"/>
            <a:ext cx="4572000" cy="182880"/>
          </a:xfrm>
          <a:prstGeom prst="rect">
            <a:avLst/>
          </a:prstGeom>
          <a:noFill/>
          <a:ln/>
        </p:spPr>
        <p:txBody>
          <a:bodyPr wrap="square" lIns="0" tIns="0" rIns="0" bIns="0" rtlCol="0" anchor="ctr"/>
          <a:lstStyle/>
          <a:p>
            <a:pPr marL="0" indent="0">
              <a:buNone/>
            </a:pPr>
            <a:r>
              <a:rPr lang="en-US" sz="850" b="1" kern="0" spc="170" dirty="0">
                <a:solidFill>
                  <a:srgbClr val="28D7F2"/>
                </a:solidFill>
              </a:rPr>
              <a:t>07 | CHIỀU SÂU SẢN PHẨM</a:t>
            </a:r>
            <a:endParaRPr lang="en-US" sz="850" dirty="0"/>
          </a:p>
        </p:txBody>
      </p:sp>
      <p:sp>
        <p:nvSpPr>
          <p:cNvPr id="3" name="Text 1"/>
          <p:cNvSpPr/>
          <p:nvPr/>
        </p:nvSpPr>
        <p:spPr>
          <a:xfrm>
            <a:off x="512064" y="640080"/>
            <a:ext cx="11064240" cy="475488"/>
          </a:xfrm>
          <a:prstGeom prst="rect">
            <a:avLst/>
          </a:prstGeom>
          <a:noFill/>
          <a:ln/>
        </p:spPr>
        <p:txBody>
          <a:bodyPr wrap="square" lIns="0" tIns="0" rIns="0" bIns="0" rtlCol="0" anchor="ctr"/>
          <a:lstStyle/>
          <a:p>
            <a:pPr marL="0" indent="0">
              <a:buNone/>
            </a:pPr>
            <a:r>
              <a:rPr lang="en-US" sz="2600" b="1" dirty="0">
                <a:solidFill>
                  <a:srgbClr val="F4F8FC"/>
                </a:solidFill>
              </a:rPr>
              <a:t>Không chỉ là diagram: hiểu cả dữ liệu, lỗi và ngữ cảnh nghiệp vụ</a:t>
            </a:r>
            <a:endParaRPr lang="en-US" sz="2600" dirty="0"/>
          </a:p>
        </p:txBody>
      </p:sp>
      <p:sp>
        <p:nvSpPr>
          <p:cNvPr id="8" name="Shape 6"/>
          <p:cNvSpPr/>
          <p:nvPr/>
        </p:nvSpPr>
        <p:spPr>
          <a:xfrm>
            <a:off x="2487168" y="1618488"/>
            <a:ext cx="3401568" cy="1600200"/>
          </a:xfrm>
          <a:prstGeom prst="roundRect">
            <a:avLst>
              <a:gd name="adj" fmla="val 3429"/>
            </a:avLst>
          </a:prstGeom>
          <a:solidFill>
            <a:srgbClr val="0D1B2B"/>
          </a:solidFill>
          <a:ln w="12700">
            <a:solidFill>
              <a:srgbClr val="29435F"/>
            </a:solidFill>
            <a:prstDash val="solid"/>
          </a:ln>
          <a:effectLst>
            <a:outerShdw blurRad="19050" dist="8890" dir="2700000" algn="bl" rotWithShape="0">
              <a:srgbClr val="000000">
                <a:alpha val="18000"/>
              </a:srgbClr>
            </a:outerShdw>
          </a:effectLst>
        </p:spPr>
      </p:sp>
      <p:sp>
        <p:nvSpPr>
          <p:cNvPr id="9" name="Shape 7"/>
          <p:cNvSpPr/>
          <p:nvPr/>
        </p:nvSpPr>
        <p:spPr>
          <a:xfrm>
            <a:off x="2487168" y="1618488"/>
            <a:ext cx="50292" cy="1600200"/>
          </a:xfrm>
          <a:prstGeom prst="rect">
            <a:avLst/>
          </a:prstGeom>
          <a:solidFill>
            <a:srgbClr val="FF6868"/>
          </a:solidFill>
          <a:ln w="12700">
            <a:solidFill>
              <a:srgbClr val="FF6868"/>
            </a:solidFill>
            <a:prstDash val="solid"/>
          </a:ln>
        </p:spPr>
      </p:sp>
      <p:sp>
        <p:nvSpPr>
          <p:cNvPr id="10" name="Text 8"/>
          <p:cNvSpPr/>
          <p:nvPr/>
        </p:nvSpPr>
        <p:spPr>
          <a:xfrm>
            <a:off x="2670048" y="1773936"/>
            <a:ext cx="3054096" cy="274320"/>
          </a:xfrm>
          <a:prstGeom prst="rect">
            <a:avLst/>
          </a:prstGeom>
          <a:noFill/>
          <a:ln/>
        </p:spPr>
        <p:txBody>
          <a:bodyPr wrap="square" lIns="0" tIns="0" rIns="0" bIns="0" rtlCol="0" anchor="ctr"/>
          <a:lstStyle/>
          <a:p>
            <a:pPr marL="0" indent="0">
              <a:buNone/>
            </a:pPr>
            <a:r>
              <a:rPr lang="en-US" sz="1450" b="1" dirty="0">
                <a:solidFill>
                  <a:srgbClr val="F4F8FC"/>
                </a:solidFill>
              </a:rPr>
              <a:t>Mã lỗi</a:t>
            </a:r>
            <a:endParaRPr lang="en-US" sz="1450" dirty="0"/>
          </a:p>
        </p:txBody>
      </p:sp>
      <p:sp>
        <p:nvSpPr>
          <p:cNvPr id="11" name="Text 9"/>
          <p:cNvSpPr/>
          <p:nvPr/>
        </p:nvSpPr>
        <p:spPr>
          <a:xfrm>
            <a:off x="2670048" y="2139696"/>
            <a:ext cx="3054096" cy="960120"/>
          </a:xfrm>
          <a:prstGeom prst="rect">
            <a:avLst/>
          </a:prstGeom>
          <a:noFill/>
          <a:ln/>
        </p:spPr>
        <p:txBody>
          <a:bodyPr wrap="square" lIns="127" tIns="127" rIns="127" bIns="127" rtlCol="0" anchor="ctr"/>
          <a:lstStyle/>
          <a:p>
            <a:pPr marL="0" indent="0">
              <a:buNone/>
            </a:pPr>
            <a:r>
              <a:rPr lang="en-US" sz="1050" dirty="0">
                <a:solidFill>
                  <a:srgbClr val="A8B7C8"/>
                </a:solidFill>
              </a:rPr>
              <a:t>Dò exception và error code để BA biết API lỗi trong tình huống nào.</a:t>
            </a:r>
            <a:endParaRPr lang="en-US" sz="1050" dirty="0"/>
          </a:p>
        </p:txBody>
      </p:sp>
      <p:sp>
        <p:nvSpPr>
          <p:cNvPr id="12" name="Shape 10"/>
          <p:cNvSpPr/>
          <p:nvPr/>
        </p:nvSpPr>
        <p:spPr>
          <a:xfrm>
            <a:off x="6254496" y="1618488"/>
            <a:ext cx="3401568" cy="1600200"/>
          </a:xfrm>
          <a:prstGeom prst="roundRect">
            <a:avLst>
              <a:gd name="adj" fmla="val 3429"/>
            </a:avLst>
          </a:prstGeom>
          <a:solidFill>
            <a:srgbClr val="0D1B2B"/>
          </a:solidFill>
          <a:ln w="12700">
            <a:solidFill>
              <a:srgbClr val="29435F"/>
            </a:solidFill>
            <a:prstDash val="solid"/>
          </a:ln>
          <a:effectLst>
            <a:outerShdw blurRad="19050" dist="8890" dir="2700000" algn="bl" rotWithShape="0">
              <a:srgbClr val="000000">
                <a:alpha val="18000"/>
              </a:srgbClr>
            </a:outerShdw>
          </a:effectLst>
        </p:spPr>
      </p:sp>
      <p:sp>
        <p:nvSpPr>
          <p:cNvPr id="13" name="Shape 11"/>
          <p:cNvSpPr/>
          <p:nvPr/>
        </p:nvSpPr>
        <p:spPr>
          <a:xfrm>
            <a:off x="6254496" y="1618488"/>
            <a:ext cx="50292" cy="1600200"/>
          </a:xfrm>
          <a:prstGeom prst="rect">
            <a:avLst/>
          </a:prstGeom>
          <a:solidFill>
            <a:srgbClr val="FFB84D"/>
          </a:solidFill>
          <a:ln w="12700">
            <a:solidFill>
              <a:srgbClr val="FFB84D"/>
            </a:solidFill>
            <a:prstDash val="solid"/>
          </a:ln>
        </p:spPr>
      </p:sp>
      <p:sp>
        <p:nvSpPr>
          <p:cNvPr id="14" name="Text 12"/>
          <p:cNvSpPr/>
          <p:nvPr/>
        </p:nvSpPr>
        <p:spPr>
          <a:xfrm>
            <a:off x="6437376" y="1773936"/>
            <a:ext cx="3054096" cy="274320"/>
          </a:xfrm>
          <a:prstGeom prst="rect">
            <a:avLst/>
          </a:prstGeom>
          <a:noFill/>
          <a:ln/>
        </p:spPr>
        <p:txBody>
          <a:bodyPr wrap="square" lIns="0" tIns="0" rIns="0" bIns="0" rtlCol="0" anchor="ctr"/>
          <a:lstStyle/>
          <a:p>
            <a:pPr marL="0" indent="0">
              <a:buNone/>
            </a:pPr>
            <a:r>
              <a:rPr lang="en-US" sz="1450" b="1" dirty="0">
                <a:solidFill>
                  <a:srgbClr val="F4F8FC"/>
                </a:solidFill>
              </a:rPr>
              <a:t>Tìm theo nghiệp vụ</a:t>
            </a:r>
            <a:endParaRPr lang="en-US" sz="1450" dirty="0"/>
          </a:p>
        </p:txBody>
      </p:sp>
      <p:sp>
        <p:nvSpPr>
          <p:cNvPr id="15" name="Text 13"/>
          <p:cNvSpPr/>
          <p:nvPr/>
        </p:nvSpPr>
        <p:spPr>
          <a:xfrm>
            <a:off x="6437376" y="2139696"/>
            <a:ext cx="3054096" cy="960120"/>
          </a:xfrm>
          <a:prstGeom prst="rect">
            <a:avLst/>
          </a:prstGeom>
          <a:noFill/>
          <a:ln/>
        </p:spPr>
        <p:txBody>
          <a:bodyPr wrap="square" lIns="127" tIns="127" rIns="127" bIns="127" rtlCol="0" anchor="ctr"/>
          <a:lstStyle/>
          <a:p>
            <a:pPr marL="0" indent="0">
              <a:buNone/>
            </a:pPr>
            <a:r>
              <a:rPr lang="en-US" sz="1050" dirty="0">
                <a:solidFill>
                  <a:srgbClr val="A8B7C8"/>
                </a:solidFill>
              </a:rPr>
              <a:t>Tìm endpoint bằng @Operation(summary) khi BA chưa biết path.</a:t>
            </a:r>
            <a:endParaRPr lang="en-US" sz="1050" dirty="0"/>
          </a:p>
        </p:txBody>
      </p:sp>
      <p:sp>
        <p:nvSpPr>
          <p:cNvPr id="16" name="Shape 14"/>
          <p:cNvSpPr/>
          <p:nvPr/>
        </p:nvSpPr>
        <p:spPr>
          <a:xfrm>
            <a:off x="2487168" y="3794760"/>
            <a:ext cx="3401568" cy="1600200"/>
          </a:xfrm>
          <a:prstGeom prst="roundRect">
            <a:avLst>
              <a:gd name="adj" fmla="val 3429"/>
            </a:avLst>
          </a:prstGeom>
          <a:solidFill>
            <a:srgbClr val="0D1B2B"/>
          </a:solidFill>
          <a:ln w="12700">
            <a:solidFill>
              <a:srgbClr val="29435F"/>
            </a:solidFill>
            <a:prstDash val="solid"/>
          </a:ln>
          <a:effectLst>
            <a:outerShdw blurRad="19050" dist="8890" dir="2700000" algn="bl" rotWithShape="0">
              <a:srgbClr val="000000">
                <a:alpha val="18000"/>
              </a:srgbClr>
            </a:outerShdw>
          </a:effectLst>
        </p:spPr>
      </p:sp>
      <p:sp>
        <p:nvSpPr>
          <p:cNvPr id="17" name="Shape 15"/>
          <p:cNvSpPr/>
          <p:nvPr/>
        </p:nvSpPr>
        <p:spPr>
          <a:xfrm>
            <a:off x="2487168" y="3794760"/>
            <a:ext cx="50292" cy="1600200"/>
          </a:xfrm>
          <a:prstGeom prst="rect">
            <a:avLst/>
          </a:prstGeom>
          <a:solidFill>
            <a:srgbClr val="4F8CFF"/>
          </a:solidFill>
          <a:ln w="12700">
            <a:solidFill>
              <a:srgbClr val="4F8CFF"/>
            </a:solidFill>
            <a:prstDash val="solid"/>
          </a:ln>
        </p:spPr>
      </p:sp>
      <p:sp>
        <p:nvSpPr>
          <p:cNvPr id="18" name="Text 16"/>
          <p:cNvSpPr/>
          <p:nvPr/>
        </p:nvSpPr>
        <p:spPr>
          <a:xfrm>
            <a:off x="2670048" y="3950208"/>
            <a:ext cx="3054096" cy="274320"/>
          </a:xfrm>
          <a:prstGeom prst="rect">
            <a:avLst/>
          </a:prstGeom>
          <a:noFill/>
          <a:ln/>
        </p:spPr>
        <p:txBody>
          <a:bodyPr wrap="square" lIns="0" tIns="0" rIns="0" bIns="0" rtlCol="0" anchor="ctr"/>
          <a:lstStyle/>
          <a:p>
            <a:pPr marL="0" indent="0">
              <a:buNone/>
            </a:pPr>
            <a:r>
              <a:rPr lang="en-US" sz="1450" b="1" dirty="0">
                <a:solidFill>
                  <a:srgbClr val="F4F8FC"/>
                </a:solidFill>
              </a:rPr>
              <a:t>Khám phá repo</a:t>
            </a:r>
            <a:endParaRPr lang="en-US" sz="1450" dirty="0"/>
          </a:p>
        </p:txBody>
      </p:sp>
      <p:sp>
        <p:nvSpPr>
          <p:cNvPr id="19" name="Text 17"/>
          <p:cNvSpPr/>
          <p:nvPr/>
        </p:nvSpPr>
        <p:spPr>
          <a:xfrm>
            <a:off x="2670048" y="4315968"/>
            <a:ext cx="3054096" cy="960120"/>
          </a:xfrm>
          <a:prstGeom prst="rect">
            <a:avLst/>
          </a:prstGeom>
          <a:noFill/>
          <a:ln/>
        </p:spPr>
        <p:txBody>
          <a:bodyPr wrap="square" lIns="127" tIns="127" rIns="127" bIns="127" rtlCol="0" anchor="ctr"/>
          <a:lstStyle/>
          <a:p>
            <a:pPr marL="0" indent="0">
              <a:buNone/>
            </a:pPr>
            <a:r>
              <a:rPr lang="en-US" sz="1050" dirty="0">
                <a:solidFill>
                  <a:srgbClr val="A8B7C8"/>
                </a:solidFill>
              </a:rPr>
              <a:t>Liệt kê toàn bộ endpoint để người dùng biết bắt đầu từ đâu.</a:t>
            </a:r>
            <a:endParaRPr lang="en-US" sz="1050" dirty="0"/>
          </a:p>
        </p:txBody>
      </p:sp>
      <p:sp>
        <p:nvSpPr>
          <p:cNvPr id="20" name="Shape 18"/>
          <p:cNvSpPr/>
          <p:nvPr/>
        </p:nvSpPr>
        <p:spPr>
          <a:xfrm>
            <a:off x="6254496" y="3794760"/>
            <a:ext cx="3401568" cy="1600200"/>
          </a:xfrm>
          <a:prstGeom prst="roundRect">
            <a:avLst>
              <a:gd name="adj" fmla="val 3429"/>
            </a:avLst>
          </a:prstGeom>
          <a:solidFill>
            <a:srgbClr val="0D1B2B"/>
          </a:solidFill>
          <a:ln w="12700">
            <a:solidFill>
              <a:srgbClr val="29435F"/>
            </a:solidFill>
            <a:prstDash val="solid"/>
          </a:ln>
          <a:effectLst>
            <a:outerShdw blurRad="19050" dist="8890" dir="2700000" algn="bl" rotWithShape="0">
              <a:srgbClr val="000000">
                <a:alpha val="18000"/>
              </a:srgbClr>
            </a:outerShdw>
          </a:effectLst>
        </p:spPr>
      </p:sp>
      <p:sp>
        <p:nvSpPr>
          <p:cNvPr id="21" name="Shape 19"/>
          <p:cNvSpPr/>
          <p:nvPr/>
        </p:nvSpPr>
        <p:spPr>
          <a:xfrm>
            <a:off x="6254496" y="3794760"/>
            <a:ext cx="50292" cy="1600200"/>
          </a:xfrm>
          <a:prstGeom prst="rect">
            <a:avLst/>
          </a:prstGeom>
          <a:solidFill>
            <a:srgbClr val="916CFF"/>
          </a:solidFill>
          <a:ln w="12700">
            <a:solidFill>
              <a:srgbClr val="916CFF"/>
            </a:solidFill>
            <a:prstDash val="solid"/>
          </a:ln>
        </p:spPr>
      </p:sp>
      <p:sp>
        <p:nvSpPr>
          <p:cNvPr id="22" name="Text 20"/>
          <p:cNvSpPr/>
          <p:nvPr/>
        </p:nvSpPr>
        <p:spPr>
          <a:xfrm>
            <a:off x="6437376" y="3950208"/>
            <a:ext cx="3054096" cy="274320"/>
          </a:xfrm>
          <a:prstGeom prst="rect">
            <a:avLst/>
          </a:prstGeom>
          <a:noFill/>
          <a:ln/>
        </p:spPr>
        <p:txBody>
          <a:bodyPr wrap="square" lIns="0" tIns="0" rIns="0" bIns="0" rtlCol="0" anchor="ctr"/>
          <a:lstStyle/>
          <a:p>
            <a:pPr marL="0" indent="0">
              <a:buNone/>
            </a:pPr>
            <a:r>
              <a:rPr lang="en-US" sz="1450" b="1" dirty="0">
                <a:solidFill>
                  <a:srgbClr val="F4F8FC"/>
                </a:solidFill>
              </a:rPr>
              <a:t>Agent tiếng Việt</a:t>
            </a:r>
            <a:endParaRPr lang="en-US" sz="1450" dirty="0"/>
          </a:p>
        </p:txBody>
      </p:sp>
      <p:sp>
        <p:nvSpPr>
          <p:cNvPr id="23" name="Text 21"/>
          <p:cNvSpPr/>
          <p:nvPr/>
        </p:nvSpPr>
        <p:spPr>
          <a:xfrm>
            <a:off x="6437376" y="4315968"/>
            <a:ext cx="3054096" cy="960120"/>
          </a:xfrm>
          <a:prstGeom prst="rect">
            <a:avLst/>
          </a:prstGeom>
          <a:noFill/>
          <a:ln/>
        </p:spPr>
        <p:txBody>
          <a:bodyPr wrap="square" lIns="127" tIns="127" rIns="127" bIns="127" rtlCol="0" anchor="ctr"/>
          <a:lstStyle/>
          <a:p>
            <a:pPr marL="0" indent="0">
              <a:buNone/>
            </a:pPr>
            <a:r>
              <a:rPr lang="en-US" sz="1050" dirty="0">
                <a:solidFill>
                  <a:srgbClr val="A8B7C8"/>
                </a:solidFill>
              </a:rPr>
              <a:t>10 tool, tool calling và bộ nhớ hội thoại tự nén để tiết kiệm token.</a:t>
            </a:r>
            <a:endParaRPr lang="en-US" sz="1050" dirty="0"/>
          </a:p>
        </p:txBody>
      </p:sp>
      <p:sp>
        <p:nvSpPr>
          <p:cNvPr id="25" name="Slide Number Placeholder 0"/>
          <p:cNvSpPr>
            <a:spLocks noGrp="1"/>
          </p:cNvSpPr>
          <p:nvPr>
            <p:ph type="sldNum" sz="quarter" idx="4294967295"/>
          </p:nvPr>
        </p:nvSpPr>
        <p:spPr>
          <a:xfrm>
            <a:off x="11768328" y="6492240"/>
            <a:ext cx="182880" cy="137160"/>
          </a:xfrm>
          <a:prstGeom prst="rect">
            <a:avLst/>
          </a:prstGeom>
          <a:extLst>
            <a:ext uri="{C572A759-6A51-4108-AA02-DFA0A04FC94B}">
              <ma14:wrappingTextBoxFlag xmlns:ma14="http://schemas.microsoft.com/office/mac/drawingml/2011/main" xmlns="" val="0"/>
            </a:ext>
          </a:extLst>
        </p:spPr>
        <p:txBody>
          <a:bodyPr lIns="0" tIns="0" rIns="0" bIns="0"/>
          <a:lstStyle>
            <a:lvl1pPr>
              <a:defRPr sz="800">
                <a:solidFill>
                  <a:srgbClr val="667D96"/>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1" cy="1"/>
          <a:chOff x="0" y="0"/>
          <a:chExt cx="1" cy="1"/>
        </a:xfrm>
      </p:grpSpPr>
      <p:sp>
        <p:nvSpPr>
          <p:cNvPr id="2" name="Text 0"/>
          <p:cNvSpPr/>
          <p:nvPr/>
        </p:nvSpPr>
        <p:spPr>
          <a:xfrm>
            <a:off x="512064" y="356616"/>
            <a:ext cx="4572000" cy="182880"/>
          </a:xfrm>
          <a:prstGeom prst="rect">
            <a:avLst/>
          </a:prstGeom>
          <a:noFill/>
          <a:ln/>
        </p:spPr>
        <p:txBody>
          <a:bodyPr wrap="square" lIns="0" tIns="0" rIns="0" bIns="0" rtlCol="0" anchor="ctr"/>
          <a:lstStyle/>
          <a:p>
            <a:pPr marL="0" indent="0">
              <a:buNone/>
            </a:pPr>
            <a:r>
              <a:rPr lang="en-US" sz="850" b="1" kern="0" spc="170" dirty="0">
                <a:solidFill>
                  <a:srgbClr val="28D7F2"/>
                </a:solidFill>
              </a:rPr>
              <a:t>09 | GREENNODE</a:t>
            </a:r>
            <a:endParaRPr lang="en-US" sz="850" dirty="0"/>
          </a:p>
        </p:txBody>
      </p:sp>
      <p:sp>
        <p:nvSpPr>
          <p:cNvPr id="3" name="Text 1"/>
          <p:cNvSpPr/>
          <p:nvPr/>
        </p:nvSpPr>
        <p:spPr>
          <a:xfrm>
            <a:off x="512064" y="640080"/>
            <a:ext cx="11064240" cy="475488"/>
          </a:xfrm>
          <a:prstGeom prst="rect">
            <a:avLst/>
          </a:prstGeom>
          <a:noFill/>
          <a:ln/>
        </p:spPr>
        <p:txBody>
          <a:bodyPr wrap="square" lIns="0" tIns="0" rIns="0" bIns="0" rtlCol="0" anchor="ctr"/>
          <a:lstStyle/>
          <a:p>
            <a:pPr marL="0" indent="0">
              <a:buNone/>
            </a:pPr>
            <a:r>
              <a:rPr lang="en-US" sz="2600" b="1" dirty="0" err="1" smtClean="0">
                <a:solidFill>
                  <a:srgbClr val="F4F8FC"/>
                </a:solidFill>
              </a:rPr>
              <a:t>Công</a:t>
            </a:r>
            <a:r>
              <a:rPr lang="en-US" sz="2600" b="1" dirty="0" smtClean="0">
                <a:solidFill>
                  <a:srgbClr val="F4F8FC"/>
                </a:solidFill>
              </a:rPr>
              <a:t> </a:t>
            </a:r>
            <a:r>
              <a:rPr lang="en-US" sz="2600" b="1" dirty="0" err="1" smtClean="0">
                <a:solidFill>
                  <a:srgbClr val="F4F8FC"/>
                </a:solidFill>
              </a:rPr>
              <a:t>nghệ</a:t>
            </a:r>
            <a:endParaRPr lang="en-US" sz="2600" dirty="0"/>
          </a:p>
        </p:txBody>
      </p:sp>
      <p:sp>
        <p:nvSpPr>
          <p:cNvPr id="4" name="Shape 2"/>
          <p:cNvSpPr/>
          <p:nvPr/>
        </p:nvSpPr>
        <p:spPr>
          <a:xfrm>
            <a:off x="658368" y="1691640"/>
            <a:ext cx="3429000" cy="3108960"/>
          </a:xfrm>
          <a:prstGeom prst="roundRect">
            <a:avLst>
              <a:gd name="adj" fmla="val 1765"/>
            </a:avLst>
          </a:prstGeom>
          <a:solidFill>
            <a:srgbClr val="0D1B2B"/>
          </a:solidFill>
          <a:ln w="15240">
            <a:solidFill>
              <a:srgbClr val="916CFF"/>
            </a:solidFill>
            <a:prstDash val="solid"/>
          </a:ln>
        </p:spPr>
      </p:sp>
      <p:sp>
        <p:nvSpPr>
          <p:cNvPr id="5" name="Text 3"/>
          <p:cNvSpPr/>
          <p:nvPr/>
        </p:nvSpPr>
        <p:spPr>
          <a:xfrm>
            <a:off x="886968" y="1993392"/>
            <a:ext cx="2971800" cy="384048"/>
          </a:xfrm>
          <a:prstGeom prst="rect">
            <a:avLst/>
          </a:prstGeom>
          <a:noFill/>
          <a:ln/>
        </p:spPr>
        <p:txBody>
          <a:bodyPr wrap="square" lIns="0" tIns="0" rIns="0" bIns="0" rtlCol="0" anchor="ctr"/>
          <a:lstStyle/>
          <a:p>
            <a:pPr marL="0" indent="0" algn="ctr">
              <a:buNone/>
            </a:pPr>
            <a:r>
              <a:rPr lang="en-US" sz="2100" b="1" dirty="0">
                <a:solidFill>
                  <a:srgbClr val="916CFF"/>
                </a:solidFill>
              </a:rPr>
              <a:t>MaaS</a:t>
            </a:r>
            <a:endParaRPr lang="en-US" sz="2100" dirty="0"/>
          </a:p>
        </p:txBody>
      </p:sp>
      <p:sp>
        <p:nvSpPr>
          <p:cNvPr id="6" name="Text 4"/>
          <p:cNvSpPr/>
          <p:nvPr/>
        </p:nvSpPr>
        <p:spPr>
          <a:xfrm>
            <a:off x="1005840" y="2880360"/>
            <a:ext cx="2743200" cy="1143000"/>
          </a:xfrm>
          <a:prstGeom prst="rect">
            <a:avLst/>
          </a:prstGeom>
          <a:noFill/>
          <a:ln/>
        </p:spPr>
        <p:txBody>
          <a:bodyPr wrap="square" lIns="0" tIns="0" rIns="0" bIns="0" rtlCol="0" anchor="ctr"/>
          <a:lstStyle/>
          <a:p>
            <a:pPr marL="0" indent="0" algn="ctr">
              <a:buNone/>
            </a:pPr>
            <a:r>
              <a:rPr lang="en-US" sz="1200" dirty="0">
                <a:solidFill>
                  <a:srgbClr val="F4F8FC"/>
                </a:solidFill>
              </a:rPr>
              <a:t>OpenAI-compatible API</a:t>
            </a:r>
            <a:endParaRPr lang="en-US" sz="1200" dirty="0"/>
          </a:p>
          <a:p>
            <a:pPr marL="0" indent="0" algn="ctr">
              <a:buNone/>
            </a:pPr>
            <a:r>
              <a:rPr lang="en-US" sz="1200" dirty="0">
                <a:solidFill>
                  <a:srgbClr val="F4F8FC"/>
                </a:solidFill>
              </a:rPr>
              <a:t>z-ai/glm-5.2-hackathon</a:t>
            </a:r>
            <a:endParaRPr lang="en-US" sz="1200" dirty="0"/>
          </a:p>
          <a:p>
            <a:pPr marL="0" indent="0" algn="ctr">
              <a:buNone/>
            </a:pPr>
            <a:r>
              <a:rPr lang="en-US" sz="1200" dirty="0">
                <a:solidFill>
                  <a:srgbClr val="F4F8FC"/>
                </a:solidFill>
              </a:rPr>
              <a:t>Đổi model bằng biến môi trường</a:t>
            </a:r>
            <a:endParaRPr lang="en-US" sz="1200" dirty="0"/>
          </a:p>
        </p:txBody>
      </p:sp>
      <p:sp>
        <p:nvSpPr>
          <p:cNvPr id="7" name="Shape 5"/>
          <p:cNvSpPr/>
          <p:nvPr/>
        </p:nvSpPr>
        <p:spPr>
          <a:xfrm>
            <a:off x="4453128" y="1691640"/>
            <a:ext cx="3429000" cy="3108960"/>
          </a:xfrm>
          <a:prstGeom prst="roundRect">
            <a:avLst>
              <a:gd name="adj" fmla="val 1765"/>
            </a:avLst>
          </a:prstGeom>
          <a:solidFill>
            <a:srgbClr val="0D1B2B"/>
          </a:solidFill>
          <a:ln w="15240">
            <a:solidFill>
              <a:srgbClr val="28D7F2"/>
            </a:solidFill>
            <a:prstDash val="solid"/>
          </a:ln>
        </p:spPr>
      </p:sp>
      <p:sp>
        <p:nvSpPr>
          <p:cNvPr id="8" name="Text 6"/>
          <p:cNvSpPr/>
          <p:nvPr/>
        </p:nvSpPr>
        <p:spPr>
          <a:xfrm>
            <a:off x="4681728" y="1993392"/>
            <a:ext cx="2971800" cy="384048"/>
          </a:xfrm>
          <a:prstGeom prst="rect">
            <a:avLst/>
          </a:prstGeom>
          <a:noFill/>
          <a:ln/>
        </p:spPr>
        <p:txBody>
          <a:bodyPr wrap="square" lIns="0" tIns="0" rIns="0" bIns="0" rtlCol="0" anchor="ctr"/>
          <a:lstStyle/>
          <a:p>
            <a:pPr marL="0" indent="0" algn="ctr">
              <a:buNone/>
            </a:pPr>
            <a:r>
              <a:rPr lang="en-US" sz="2100" b="1" dirty="0">
                <a:solidFill>
                  <a:srgbClr val="28D7F2"/>
                </a:solidFill>
              </a:rPr>
              <a:t>AgentBase</a:t>
            </a:r>
            <a:endParaRPr lang="en-US" sz="2100" dirty="0"/>
          </a:p>
        </p:txBody>
      </p:sp>
      <p:sp>
        <p:nvSpPr>
          <p:cNvPr id="9" name="Text 7"/>
          <p:cNvSpPr/>
          <p:nvPr/>
        </p:nvSpPr>
        <p:spPr>
          <a:xfrm>
            <a:off x="4800600" y="2880360"/>
            <a:ext cx="2743200" cy="1143000"/>
          </a:xfrm>
          <a:prstGeom prst="rect">
            <a:avLst/>
          </a:prstGeom>
          <a:noFill/>
          <a:ln/>
        </p:spPr>
        <p:txBody>
          <a:bodyPr wrap="square" lIns="0" tIns="0" rIns="0" bIns="0" rtlCol="0" anchor="ctr"/>
          <a:lstStyle/>
          <a:p>
            <a:pPr marL="0" indent="0" algn="ctr">
              <a:buNone/>
            </a:pPr>
            <a:r>
              <a:rPr lang="en-US" sz="1200" dirty="0">
                <a:solidFill>
                  <a:srgbClr val="F4F8FC"/>
                </a:solidFill>
              </a:rPr>
              <a:t>Docker deployment</a:t>
            </a:r>
            <a:endParaRPr lang="en-US" sz="1200" dirty="0"/>
          </a:p>
          <a:p>
            <a:pPr marL="0" indent="0" algn="ctr">
              <a:buNone/>
            </a:pPr>
            <a:r>
              <a:rPr lang="en-US" sz="1200" dirty="0">
                <a:solidFill>
                  <a:srgbClr val="F4F8FC"/>
                </a:solidFill>
              </a:rPr>
              <a:t>X-API-Key cho /api/**</a:t>
            </a:r>
            <a:endParaRPr lang="en-US" sz="1200" dirty="0"/>
          </a:p>
          <a:p>
            <a:pPr marL="0" indent="0" algn="ctr">
              <a:buNone/>
            </a:pPr>
            <a:r>
              <a:rPr lang="en-US" sz="1200" dirty="0">
                <a:solidFill>
                  <a:srgbClr val="F4F8FC"/>
                </a:solidFill>
              </a:rPr>
              <a:t>Fail fast khi startup</a:t>
            </a:r>
            <a:endParaRPr lang="en-US" sz="1200" dirty="0"/>
          </a:p>
        </p:txBody>
      </p:sp>
      <p:sp>
        <p:nvSpPr>
          <p:cNvPr id="10" name="Shape 8"/>
          <p:cNvSpPr/>
          <p:nvPr/>
        </p:nvSpPr>
        <p:spPr>
          <a:xfrm>
            <a:off x="8247888" y="1691640"/>
            <a:ext cx="3429000" cy="3108960"/>
          </a:xfrm>
          <a:prstGeom prst="roundRect">
            <a:avLst>
              <a:gd name="adj" fmla="val 1765"/>
            </a:avLst>
          </a:prstGeom>
          <a:solidFill>
            <a:srgbClr val="0D1B2B"/>
          </a:solidFill>
          <a:ln w="15240">
            <a:solidFill>
              <a:srgbClr val="37D996"/>
            </a:solidFill>
            <a:prstDash val="solid"/>
          </a:ln>
        </p:spPr>
      </p:sp>
      <p:sp>
        <p:nvSpPr>
          <p:cNvPr id="11" name="Text 9"/>
          <p:cNvSpPr/>
          <p:nvPr/>
        </p:nvSpPr>
        <p:spPr>
          <a:xfrm>
            <a:off x="8476488" y="1993392"/>
            <a:ext cx="2971800" cy="384048"/>
          </a:xfrm>
          <a:prstGeom prst="rect">
            <a:avLst/>
          </a:prstGeom>
          <a:noFill/>
          <a:ln/>
        </p:spPr>
        <p:txBody>
          <a:bodyPr wrap="square" lIns="0" tIns="0" rIns="0" bIns="0" rtlCol="0" anchor="ctr"/>
          <a:lstStyle/>
          <a:p>
            <a:pPr marL="0" indent="0" algn="ctr">
              <a:buNone/>
            </a:pPr>
            <a:r>
              <a:rPr lang="en-US" sz="2100" b="1" dirty="0">
                <a:solidFill>
                  <a:srgbClr val="37D996"/>
                </a:solidFill>
              </a:rPr>
              <a:t>Cost control</a:t>
            </a:r>
            <a:endParaRPr lang="en-US" sz="2100" dirty="0"/>
          </a:p>
        </p:txBody>
      </p:sp>
      <p:sp>
        <p:nvSpPr>
          <p:cNvPr id="12" name="Text 10"/>
          <p:cNvSpPr/>
          <p:nvPr/>
        </p:nvSpPr>
        <p:spPr>
          <a:xfrm>
            <a:off x="8595360" y="2880360"/>
            <a:ext cx="2743200" cy="1143000"/>
          </a:xfrm>
          <a:prstGeom prst="rect">
            <a:avLst/>
          </a:prstGeom>
          <a:noFill/>
          <a:ln/>
        </p:spPr>
        <p:txBody>
          <a:bodyPr wrap="square" lIns="0" tIns="0" rIns="0" bIns="0" rtlCol="0" anchor="ctr"/>
          <a:lstStyle/>
          <a:p>
            <a:pPr marL="0" indent="0" algn="ctr">
              <a:buNone/>
            </a:pPr>
            <a:r>
              <a:rPr lang="en-US" sz="1200" dirty="0">
                <a:solidFill>
                  <a:srgbClr val="F4F8FC"/>
                </a:solidFill>
              </a:rPr>
              <a:t>useAi=false mặc định</a:t>
            </a:r>
            <a:endParaRPr lang="en-US" sz="1200" dirty="0"/>
          </a:p>
          <a:p>
            <a:pPr marL="0" indent="0" algn="ctr">
              <a:buNone/>
            </a:pPr>
            <a:r>
              <a:rPr lang="en-US" sz="1200" dirty="0">
                <a:solidFill>
                  <a:srgbClr val="F4F8FC"/>
                </a:solidFill>
              </a:rPr>
              <a:t>Cache theo commit + endpoint + model</a:t>
            </a:r>
            <a:endParaRPr lang="en-US" sz="1200" dirty="0"/>
          </a:p>
          <a:p>
            <a:pPr marL="0" indent="0" algn="ctr">
              <a:buNone/>
            </a:pPr>
            <a:r>
              <a:rPr lang="en-US" sz="1200" dirty="0">
                <a:solidFill>
                  <a:srgbClr val="F4F8FC"/>
                </a:solidFill>
              </a:rPr>
              <a:t>Không trả tiền lần hai</a:t>
            </a:r>
            <a:endParaRPr lang="en-US" sz="1200" dirty="0"/>
          </a:p>
        </p:txBody>
      </p:sp>
      <p:sp>
        <p:nvSpPr>
          <p:cNvPr id="25" name="Slide Number Placeholder 0"/>
          <p:cNvSpPr>
            <a:spLocks noGrp="1"/>
          </p:cNvSpPr>
          <p:nvPr>
            <p:ph type="sldNum" sz="quarter" idx="4294967295"/>
          </p:nvPr>
        </p:nvSpPr>
        <p:spPr>
          <a:xfrm>
            <a:off x="11768328" y="6492240"/>
            <a:ext cx="182880" cy="137160"/>
          </a:xfrm>
          <a:prstGeom prst="rect">
            <a:avLst/>
          </a:prstGeom>
          <a:extLst>
            <a:ext uri="{C572A759-6A51-4108-AA02-DFA0A04FC94B}">
              <ma14:wrappingTextBoxFlag xmlns:ma14="http://schemas.microsoft.com/office/mac/drawingml/2011/main" xmlns="" val="0"/>
            </a:ext>
          </a:extLst>
        </p:spPr>
        <p:txBody>
          <a:bodyPr lIns="0" tIns="0" rIns="0" bIns="0"/>
          <a:lstStyle>
            <a:lvl1pPr>
              <a:defRPr sz="800">
                <a:solidFill>
                  <a:srgbClr val="667D96"/>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1" cy="1"/>
          <a:chOff x="0" y="0"/>
          <a:chExt cx="1" cy="1"/>
        </a:xfrm>
      </p:grpSpPr>
      <p:sp>
        <p:nvSpPr>
          <p:cNvPr id="2" name="Text 0"/>
          <p:cNvSpPr/>
          <p:nvPr/>
        </p:nvSpPr>
        <p:spPr>
          <a:xfrm>
            <a:off x="512064" y="356616"/>
            <a:ext cx="4572000" cy="182880"/>
          </a:xfrm>
          <a:prstGeom prst="rect">
            <a:avLst/>
          </a:prstGeom>
          <a:noFill/>
          <a:ln/>
        </p:spPr>
        <p:txBody>
          <a:bodyPr wrap="square" lIns="0" tIns="0" rIns="0" bIns="0" rtlCol="0" anchor="ctr"/>
          <a:lstStyle/>
          <a:p>
            <a:pPr marL="0" indent="0">
              <a:buNone/>
            </a:pPr>
            <a:r>
              <a:rPr lang="en-US" sz="850" b="1" kern="0" spc="170" dirty="0">
                <a:solidFill>
                  <a:srgbClr val="28D7F2"/>
                </a:solidFill>
              </a:rPr>
              <a:t>11 | GIÁ TRỊ</a:t>
            </a:r>
            <a:endParaRPr lang="en-US" sz="850" dirty="0"/>
          </a:p>
        </p:txBody>
      </p:sp>
      <p:sp>
        <p:nvSpPr>
          <p:cNvPr id="3" name="Text 1"/>
          <p:cNvSpPr/>
          <p:nvPr/>
        </p:nvSpPr>
        <p:spPr>
          <a:xfrm>
            <a:off x="512064" y="640080"/>
            <a:ext cx="11064240" cy="475488"/>
          </a:xfrm>
          <a:prstGeom prst="rect">
            <a:avLst/>
          </a:prstGeom>
          <a:noFill/>
          <a:ln/>
        </p:spPr>
        <p:txBody>
          <a:bodyPr wrap="square" lIns="0" tIns="0" rIns="0" bIns="0" rtlCol="0" anchor="ctr"/>
          <a:lstStyle/>
          <a:p>
            <a:pPr marL="0" indent="0">
              <a:buNone/>
            </a:pPr>
            <a:r>
              <a:rPr lang="en-US" sz="2600" b="1" dirty="0">
                <a:solidFill>
                  <a:srgbClr val="F4F8FC"/>
                </a:solidFill>
              </a:rPr>
              <a:t>Một artefact chung cho BA, Dev, QA và tổ chức</a:t>
            </a:r>
            <a:endParaRPr lang="en-US" sz="2600" dirty="0"/>
          </a:p>
        </p:txBody>
      </p:sp>
      <p:sp>
        <p:nvSpPr>
          <p:cNvPr id="4" name="Shape 2"/>
          <p:cNvSpPr/>
          <p:nvPr/>
        </p:nvSpPr>
        <p:spPr>
          <a:xfrm>
            <a:off x="658368" y="1691640"/>
            <a:ext cx="2514600" cy="2057400"/>
          </a:xfrm>
          <a:prstGeom prst="roundRect">
            <a:avLst>
              <a:gd name="adj" fmla="val 2667"/>
            </a:avLst>
          </a:prstGeom>
          <a:solidFill>
            <a:srgbClr val="0D1B2B"/>
          </a:solidFill>
          <a:ln w="12700">
            <a:solidFill>
              <a:srgbClr val="29435F"/>
            </a:solidFill>
            <a:prstDash val="solid"/>
          </a:ln>
          <a:effectLst>
            <a:outerShdw blurRad="19050" dist="8890" dir="2700000" algn="bl" rotWithShape="0">
              <a:srgbClr val="000000">
                <a:alpha val="18000"/>
              </a:srgbClr>
            </a:outerShdw>
          </a:effectLst>
        </p:spPr>
      </p:sp>
      <p:sp>
        <p:nvSpPr>
          <p:cNvPr id="5" name="Shape 3"/>
          <p:cNvSpPr/>
          <p:nvPr/>
        </p:nvSpPr>
        <p:spPr>
          <a:xfrm>
            <a:off x="658368" y="1691640"/>
            <a:ext cx="50292" cy="2057400"/>
          </a:xfrm>
          <a:prstGeom prst="rect">
            <a:avLst/>
          </a:prstGeom>
          <a:solidFill>
            <a:srgbClr val="28D7F2"/>
          </a:solidFill>
          <a:ln w="12700">
            <a:solidFill>
              <a:srgbClr val="28D7F2"/>
            </a:solidFill>
            <a:prstDash val="solid"/>
          </a:ln>
        </p:spPr>
      </p:sp>
      <p:sp>
        <p:nvSpPr>
          <p:cNvPr id="6" name="Text 4"/>
          <p:cNvSpPr/>
          <p:nvPr/>
        </p:nvSpPr>
        <p:spPr>
          <a:xfrm>
            <a:off x="841248" y="1847088"/>
            <a:ext cx="2167128" cy="274320"/>
          </a:xfrm>
          <a:prstGeom prst="rect">
            <a:avLst/>
          </a:prstGeom>
          <a:noFill/>
          <a:ln/>
        </p:spPr>
        <p:txBody>
          <a:bodyPr wrap="square" lIns="0" tIns="0" rIns="0" bIns="0" rtlCol="0" anchor="ctr"/>
          <a:lstStyle/>
          <a:p>
            <a:pPr marL="0" indent="0">
              <a:buNone/>
            </a:pPr>
            <a:r>
              <a:rPr lang="en-US" sz="1450" b="1" dirty="0">
                <a:solidFill>
                  <a:srgbClr val="F4F8FC"/>
                </a:solidFill>
              </a:rPr>
              <a:t>BA</a:t>
            </a:r>
            <a:endParaRPr lang="en-US" sz="1450" dirty="0"/>
          </a:p>
        </p:txBody>
      </p:sp>
      <p:sp>
        <p:nvSpPr>
          <p:cNvPr id="7" name="Text 5"/>
          <p:cNvSpPr/>
          <p:nvPr/>
        </p:nvSpPr>
        <p:spPr>
          <a:xfrm>
            <a:off x="841248" y="2212848"/>
            <a:ext cx="2167128" cy="1417320"/>
          </a:xfrm>
          <a:prstGeom prst="rect">
            <a:avLst/>
          </a:prstGeom>
          <a:noFill/>
          <a:ln/>
        </p:spPr>
        <p:txBody>
          <a:bodyPr wrap="square" lIns="127" tIns="127" rIns="127" bIns="127" rtlCol="0" anchor="ctr"/>
          <a:lstStyle/>
          <a:p>
            <a:pPr marL="0" indent="0">
              <a:buNone/>
            </a:pPr>
            <a:r>
              <a:rPr lang="en-US" sz="1050" dirty="0">
                <a:solidFill>
                  <a:srgbClr val="A8B7C8"/>
                </a:solidFill>
              </a:rPr>
              <a:t>Đặc tả hiện trạng và sơ đồ trong vài phút, không phải chờ dev.</a:t>
            </a:r>
            <a:endParaRPr lang="en-US" sz="1050" dirty="0"/>
          </a:p>
        </p:txBody>
      </p:sp>
      <p:sp>
        <p:nvSpPr>
          <p:cNvPr id="8" name="Shape 6"/>
          <p:cNvSpPr/>
          <p:nvPr/>
        </p:nvSpPr>
        <p:spPr>
          <a:xfrm>
            <a:off x="3520440" y="1691640"/>
            <a:ext cx="2514600" cy="2057400"/>
          </a:xfrm>
          <a:prstGeom prst="roundRect">
            <a:avLst>
              <a:gd name="adj" fmla="val 2667"/>
            </a:avLst>
          </a:prstGeom>
          <a:solidFill>
            <a:srgbClr val="0D1B2B"/>
          </a:solidFill>
          <a:ln w="12700">
            <a:solidFill>
              <a:srgbClr val="29435F"/>
            </a:solidFill>
            <a:prstDash val="solid"/>
          </a:ln>
          <a:effectLst>
            <a:outerShdw blurRad="19050" dist="8890" dir="2700000" algn="bl" rotWithShape="0">
              <a:srgbClr val="000000">
                <a:alpha val="18000"/>
              </a:srgbClr>
            </a:outerShdw>
          </a:effectLst>
        </p:spPr>
      </p:sp>
      <p:sp>
        <p:nvSpPr>
          <p:cNvPr id="9" name="Shape 7"/>
          <p:cNvSpPr/>
          <p:nvPr/>
        </p:nvSpPr>
        <p:spPr>
          <a:xfrm>
            <a:off x="3520440" y="1691640"/>
            <a:ext cx="50292" cy="2057400"/>
          </a:xfrm>
          <a:prstGeom prst="rect">
            <a:avLst/>
          </a:prstGeom>
          <a:solidFill>
            <a:srgbClr val="916CFF"/>
          </a:solidFill>
          <a:ln w="12700">
            <a:solidFill>
              <a:srgbClr val="916CFF"/>
            </a:solidFill>
            <a:prstDash val="solid"/>
          </a:ln>
        </p:spPr>
      </p:sp>
      <p:sp>
        <p:nvSpPr>
          <p:cNvPr id="10" name="Text 8"/>
          <p:cNvSpPr/>
          <p:nvPr/>
        </p:nvSpPr>
        <p:spPr>
          <a:xfrm>
            <a:off x="3703320" y="1847088"/>
            <a:ext cx="2167128" cy="274320"/>
          </a:xfrm>
          <a:prstGeom prst="rect">
            <a:avLst/>
          </a:prstGeom>
          <a:noFill/>
          <a:ln/>
        </p:spPr>
        <p:txBody>
          <a:bodyPr wrap="square" lIns="0" tIns="0" rIns="0" bIns="0" rtlCol="0" anchor="ctr"/>
          <a:lstStyle/>
          <a:p>
            <a:pPr marL="0" indent="0">
              <a:buNone/>
            </a:pPr>
            <a:r>
              <a:rPr lang="en-US" sz="1450" b="1" dirty="0">
                <a:solidFill>
                  <a:srgbClr val="F4F8FC"/>
                </a:solidFill>
              </a:rPr>
              <a:t>Developer</a:t>
            </a:r>
            <a:endParaRPr lang="en-US" sz="1450" dirty="0"/>
          </a:p>
        </p:txBody>
      </p:sp>
      <p:sp>
        <p:nvSpPr>
          <p:cNvPr id="11" name="Text 9"/>
          <p:cNvSpPr/>
          <p:nvPr/>
        </p:nvSpPr>
        <p:spPr>
          <a:xfrm>
            <a:off x="3703320" y="2212848"/>
            <a:ext cx="2167128" cy="1417320"/>
          </a:xfrm>
          <a:prstGeom prst="rect">
            <a:avLst/>
          </a:prstGeom>
          <a:noFill/>
          <a:ln/>
        </p:spPr>
        <p:txBody>
          <a:bodyPr wrap="square" lIns="127" tIns="127" rIns="127" bIns="127" rtlCol="0" anchor="ctr"/>
          <a:lstStyle/>
          <a:p>
            <a:pPr marL="0" indent="0">
              <a:buNone/>
            </a:pPr>
            <a:r>
              <a:rPr lang="en-US" sz="1050" dirty="0">
                <a:solidFill>
                  <a:srgbClr val="A8B7C8"/>
                </a:solidFill>
              </a:rPr>
              <a:t>Giảm gián đoạn và onboarding bằng tài liệu sinh tự động.</a:t>
            </a:r>
            <a:endParaRPr lang="en-US" sz="1050" dirty="0"/>
          </a:p>
        </p:txBody>
      </p:sp>
      <p:sp>
        <p:nvSpPr>
          <p:cNvPr id="12" name="Shape 10"/>
          <p:cNvSpPr/>
          <p:nvPr/>
        </p:nvSpPr>
        <p:spPr>
          <a:xfrm>
            <a:off x="6382512" y="1691640"/>
            <a:ext cx="2514600" cy="2057400"/>
          </a:xfrm>
          <a:prstGeom prst="roundRect">
            <a:avLst>
              <a:gd name="adj" fmla="val 2667"/>
            </a:avLst>
          </a:prstGeom>
          <a:solidFill>
            <a:srgbClr val="0D1B2B"/>
          </a:solidFill>
          <a:ln w="12700">
            <a:solidFill>
              <a:srgbClr val="29435F"/>
            </a:solidFill>
            <a:prstDash val="solid"/>
          </a:ln>
          <a:effectLst>
            <a:outerShdw blurRad="19050" dist="8890" dir="2700000" algn="bl" rotWithShape="0">
              <a:srgbClr val="000000">
                <a:alpha val="18000"/>
              </a:srgbClr>
            </a:outerShdw>
          </a:effectLst>
        </p:spPr>
      </p:sp>
      <p:sp>
        <p:nvSpPr>
          <p:cNvPr id="13" name="Shape 11"/>
          <p:cNvSpPr/>
          <p:nvPr/>
        </p:nvSpPr>
        <p:spPr>
          <a:xfrm>
            <a:off x="6382512" y="1691640"/>
            <a:ext cx="50292" cy="2057400"/>
          </a:xfrm>
          <a:prstGeom prst="rect">
            <a:avLst/>
          </a:prstGeom>
          <a:solidFill>
            <a:srgbClr val="FFB84D"/>
          </a:solidFill>
          <a:ln w="12700">
            <a:solidFill>
              <a:srgbClr val="FFB84D"/>
            </a:solidFill>
            <a:prstDash val="solid"/>
          </a:ln>
        </p:spPr>
      </p:sp>
      <p:sp>
        <p:nvSpPr>
          <p:cNvPr id="14" name="Text 12"/>
          <p:cNvSpPr/>
          <p:nvPr/>
        </p:nvSpPr>
        <p:spPr>
          <a:xfrm>
            <a:off x="6565392" y="1847088"/>
            <a:ext cx="2167128" cy="274320"/>
          </a:xfrm>
          <a:prstGeom prst="rect">
            <a:avLst/>
          </a:prstGeom>
          <a:noFill/>
          <a:ln/>
        </p:spPr>
        <p:txBody>
          <a:bodyPr wrap="square" lIns="0" tIns="0" rIns="0" bIns="0" rtlCol="0" anchor="ctr"/>
          <a:lstStyle/>
          <a:p>
            <a:pPr marL="0" indent="0">
              <a:buNone/>
            </a:pPr>
            <a:r>
              <a:rPr lang="en-US" sz="1450" b="1" dirty="0">
                <a:solidFill>
                  <a:srgbClr val="F4F8FC"/>
                </a:solidFill>
              </a:rPr>
              <a:t>QA / Release</a:t>
            </a:r>
            <a:endParaRPr lang="en-US" sz="1450" dirty="0"/>
          </a:p>
        </p:txBody>
      </p:sp>
      <p:sp>
        <p:nvSpPr>
          <p:cNvPr id="15" name="Text 13"/>
          <p:cNvSpPr/>
          <p:nvPr/>
        </p:nvSpPr>
        <p:spPr>
          <a:xfrm>
            <a:off x="6565392" y="2212848"/>
            <a:ext cx="2167128" cy="1417320"/>
          </a:xfrm>
          <a:prstGeom prst="rect">
            <a:avLst/>
          </a:prstGeom>
          <a:noFill/>
          <a:ln/>
        </p:spPr>
        <p:txBody>
          <a:bodyPr wrap="square" lIns="127" tIns="127" rIns="127" bIns="127" rtlCol="0" anchor="ctr"/>
          <a:lstStyle/>
          <a:p>
            <a:pPr marL="0" indent="0">
              <a:buNone/>
            </a:pPr>
            <a:r>
              <a:rPr lang="en-US" sz="1050" dirty="0">
                <a:solidFill>
                  <a:srgbClr val="A8B7C8"/>
                </a:solidFill>
              </a:rPr>
              <a:t>Diff diagram giữa hai commit để nhìn luồng đã đổi ở đâu.</a:t>
            </a:r>
            <a:endParaRPr lang="en-US" sz="1050" dirty="0"/>
          </a:p>
        </p:txBody>
      </p:sp>
      <p:sp>
        <p:nvSpPr>
          <p:cNvPr id="16" name="Shape 14"/>
          <p:cNvSpPr/>
          <p:nvPr/>
        </p:nvSpPr>
        <p:spPr>
          <a:xfrm>
            <a:off x="9244584" y="1691640"/>
            <a:ext cx="2514600" cy="2057400"/>
          </a:xfrm>
          <a:prstGeom prst="roundRect">
            <a:avLst>
              <a:gd name="adj" fmla="val 2667"/>
            </a:avLst>
          </a:prstGeom>
          <a:solidFill>
            <a:srgbClr val="0D1B2B"/>
          </a:solidFill>
          <a:ln w="12700">
            <a:solidFill>
              <a:srgbClr val="29435F"/>
            </a:solidFill>
            <a:prstDash val="solid"/>
          </a:ln>
          <a:effectLst>
            <a:outerShdw blurRad="19050" dist="8890" dir="2700000" algn="bl" rotWithShape="0">
              <a:srgbClr val="000000">
                <a:alpha val="18000"/>
              </a:srgbClr>
            </a:outerShdw>
          </a:effectLst>
        </p:spPr>
      </p:sp>
      <p:sp>
        <p:nvSpPr>
          <p:cNvPr id="17" name="Shape 15"/>
          <p:cNvSpPr/>
          <p:nvPr/>
        </p:nvSpPr>
        <p:spPr>
          <a:xfrm>
            <a:off x="9244584" y="1691640"/>
            <a:ext cx="50292" cy="2057400"/>
          </a:xfrm>
          <a:prstGeom prst="rect">
            <a:avLst/>
          </a:prstGeom>
          <a:solidFill>
            <a:srgbClr val="37D996"/>
          </a:solidFill>
          <a:ln w="12700">
            <a:solidFill>
              <a:srgbClr val="37D996"/>
            </a:solidFill>
            <a:prstDash val="solid"/>
          </a:ln>
        </p:spPr>
      </p:sp>
      <p:sp>
        <p:nvSpPr>
          <p:cNvPr id="18" name="Text 16"/>
          <p:cNvSpPr/>
          <p:nvPr/>
        </p:nvSpPr>
        <p:spPr>
          <a:xfrm>
            <a:off x="9427464" y="1847088"/>
            <a:ext cx="2167128" cy="274320"/>
          </a:xfrm>
          <a:prstGeom prst="rect">
            <a:avLst/>
          </a:prstGeom>
          <a:noFill/>
          <a:ln/>
        </p:spPr>
        <p:txBody>
          <a:bodyPr wrap="square" lIns="0" tIns="0" rIns="0" bIns="0" rtlCol="0" anchor="ctr"/>
          <a:lstStyle/>
          <a:p>
            <a:pPr marL="0" indent="0">
              <a:buNone/>
            </a:pPr>
            <a:r>
              <a:rPr lang="en-US" sz="1450" b="1" dirty="0">
                <a:solidFill>
                  <a:srgbClr val="F4F8FC"/>
                </a:solidFill>
              </a:rPr>
              <a:t>Tổ chức</a:t>
            </a:r>
            <a:endParaRPr lang="en-US" sz="1450" dirty="0"/>
          </a:p>
        </p:txBody>
      </p:sp>
      <p:sp>
        <p:nvSpPr>
          <p:cNvPr id="19" name="Text 17"/>
          <p:cNvSpPr/>
          <p:nvPr/>
        </p:nvSpPr>
        <p:spPr>
          <a:xfrm>
            <a:off x="9427464" y="2212848"/>
            <a:ext cx="2167128" cy="1417320"/>
          </a:xfrm>
          <a:prstGeom prst="rect">
            <a:avLst/>
          </a:prstGeom>
          <a:noFill/>
          <a:ln/>
        </p:spPr>
        <p:txBody>
          <a:bodyPr wrap="square" lIns="127" tIns="127" rIns="127" bIns="127" rtlCol="0" anchor="ctr"/>
          <a:lstStyle/>
          <a:p>
            <a:pPr marL="0" indent="0">
              <a:buNone/>
            </a:pPr>
            <a:r>
              <a:rPr lang="en-US" sz="1050" dirty="0">
                <a:solidFill>
                  <a:srgbClr val="A8B7C8"/>
                </a:solidFill>
              </a:rPr>
              <a:t>Tài liệu luôn gắn với code vì được sinh từ đúng commit.</a:t>
            </a:r>
            <a:endParaRPr lang="en-US" sz="1050" dirty="0"/>
          </a:p>
        </p:txBody>
      </p:sp>
      <p:sp>
        <p:nvSpPr>
          <p:cNvPr id="26" name="Slide Number Placeholder 0"/>
          <p:cNvSpPr>
            <a:spLocks noGrp="1"/>
          </p:cNvSpPr>
          <p:nvPr>
            <p:ph type="sldNum" sz="quarter" idx="4294967295"/>
          </p:nvPr>
        </p:nvSpPr>
        <p:spPr>
          <a:xfrm>
            <a:off x="11768328" y="6492240"/>
            <a:ext cx="182880" cy="137160"/>
          </a:xfrm>
          <a:prstGeom prst="rect">
            <a:avLst/>
          </a:prstGeom>
          <a:extLst>
            <a:ext uri="{C572A759-6A51-4108-AA02-DFA0A04FC94B}">
              <ma14:wrappingTextBoxFlag xmlns:ma14="http://schemas.microsoft.com/office/mac/drawingml/2011/main" xmlns="" val="0"/>
            </a:ext>
          </a:extLst>
        </p:spPr>
        <p:txBody>
          <a:bodyPr lIns="0" tIns="0" rIns="0" bIns="0"/>
          <a:lstStyle>
            <a:lvl1pPr>
              <a:defRPr sz="800">
                <a:solidFill>
                  <a:srgbClr val="667D96"/>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1" cy="1"/>
          <a:chOff x="0" y="0"/>
          <a:chExt cx="1" cy="1"/>
        </a:xfrm>
      </p:grpSpPr>
      <p:pic>
        <p:nvPicPr>
          <p:cNvPr id="2" name="Image 0" descr="/mnt/data/7884e335ef.png"/>
          <p:cNvPicPr>
            <a:picLocks noChangeAspect="1"/>
          </p:cNvPicPr>
          <p:nvPr/>
        </p:nvPicPr>
        <p:blipFill>
          <a:blip r:embed="rId3"/>
          <a:srcRect l="23305" r="23305"/>
          <a:stretch/>
        </p:blipFill>
        <p:spPr>
          <a:xfrm>
            <a:off x="7040880" y="64008"/>
            <a:ext cx="5148072" cy="6428232"/>
          </a:xfrm>
          <a:prstGeom prst="rect">
            <a:avLst/>
          </a:prstGeom>
        </p:spPr>
      </p:pic>
      <p:sp>
        <p:nvSpPr>
          <p:cNvPr id="3" name="Shape 0"/>
          <p:cNvSpPr/>
          <p:nvPr/>
        </p:nvSpPr>
        <p:spPr>
          <a:xfrm>
            <a:off x="0" y="64008"/>
            <a:ext cx="7040880" cy="6428232"/>
          </a:xfrm>
          <a:prstGeom prst="rect">
            <a:avLst/>
          </a:prstGeom>
          <a:solidFill>
            <a:srgbClr val="06101D"/>
          </a:solidFill>
          <a:ln w="12700">
            <a:solidFill>
              <a:srgbClr val="06101D"/>
            </a:solidFill>
            <a:prstDash val="solid"/>
          </a:ln>
        </p:spPr>
      </p:sp>
      <p:sp>
        <p:nvSpPr>
          <p:cNvPr id="4" name="Shape 1"/>
          <p:cNvSpPr/>
          <p:nvPr/>
        </p:nvSpPr>
        <p:spPr>
          <a:xfrm>
            <a:off x="621792" y="566928"/>
            <a:ext cx="1188720" cy="310896"/>
          </a:xfrm>
          <a:prstGeom prst="roundRect">
            <a:avLst>
              <a:gd name="adj" fmla="val 14706"/>
            </a:avLst>
          </a:prstGeom>
          <a:solidFill>
            <a:srgbClr val="37D996">
              <a:alpha val="15000"/>
            </a:srgbClr>
          </a:solidFill>
          <a:ln w="12700">
            <a:solidFill>
              <a:srgbClr val="37D996">
                <a:alpha val="75000"/>
              </a:srgbClr>
            </a:solidFill>
            <a:prstDash val="solid"/>
          </a:ln>
        </p:spPr>
      </p:sp>
      <p:sp>
        <p:nvSpPr>
          <p:cNvPr id="5" name="Text 2"/>
          <p:cNvSpPr/>
          <p:nvPr/>
        </p:nvSpPr>
        <p:spPr>
          <a:xfrm>
            <a:off x="694944" y="640080"/>
            <a:ext cx="1042416" cy="128016"/>
          </a:xfrm>
          <a:prstGeom prst="rect">
            <a:avLst/>
          </a:prstGeom>
          <a:noFill/>
          <a:ln/>
        </p:spPr>
        <p:txBody>
          <a:bodyPr wrap="square" lIns="0" tIns="0" rIns="0" bIns="0" rtlCol="0" anchor="ctr"/>
          <a:lstStyle/>
          <a:p>
            <a:pPr marL="0" indent="0" algn="ctr">
              <a:buNone/>
            </a:pPr>
            <a:r>
              <a:rPr lang="en-US" sz="880" b="1" dirty="0">
                <a:solidFill>
                  <a:srgbClr val="37D996"/>
                </a:solidFill>
              </a:rPr>
              <a:t>KẾT</a:t>
            </a:r>
            <a:endParaRPr lang="en-US" sz="880" dirty="0"/>
          </a:p>
        </p:txBody>
      </p:sp>
      <p:sp>
        <p:nvSpPr>
          <p:cNvPr id="6" name="Text 3"/>
          <p:cNvSpPr/>
          <p:nvPr/>
        </p:nvSpPr>
        <p:spPr>
          <a:xfrm>
            <a:off x="621792" y="1188720"/>
            <a:ext cx="5943600" cy="1965960"/>
          </a:xfrm>
          <a:prstGeom prst="rect">
            <a:avLst/>
          </a:prstGeom>
          <a:noFill/>
          <a:ln/>
        </p:spPr>
        <p:txBody>
          <a:bodyPr wrap="square" lIns="0" tIns="0" rIns="0" bIns="0" rtlCol="0" anchor="ctr"/>
          <a:lstStyle/>
          <a:p>
            <a:pPr marL="0" indent="0">
              <a:buNone/>
            </a:pPr>
            <a:r>
              <a:rPr lang="en-US" sz="2900" b="1" dirty="0">
                <a:solidFill>
                  <a:srgbClr val="F4F8FC"/>
                </a:solidFill>
              </a:rPr>
              <a:t>Tài liệu không nên được viết.</a:t>
            </a:r>
            <a:endParaRPr lang="en-US" sz="2900" dirty="0"/>
          </a:p>
          <a:p>
            <a:pPr marL="0" indent="0">
              <a:buNone/>
            </a:pPr>
            <a:r>
              <a:rPr lang="en-US" sz="2900" b="1" dirty="0">
                <a:solidFill>
                  <a:srgbClr val="F4F8FC"/>
                </a:solidFill>
              </a:rPr>
              <a:t>Nó nên được sinh ra,</a:t>
            </a:r>
            <a:endParaRPr lang="en-US" sz="2900" dirty="0"/>
          </a:p>
          <a:p>
            <a:pPr marL="0" indent="0">
              <a:buNone/>
            </a:pPr>
            <a:r>
              <a:rPr lang="en-US" sz="2900" b="1" dirty="0">
                <a:solidFill>
                  <a:srgbClr val="F4F8FC"/>
                </a:solidFill>
              </a:rPr>
              <a:t>và phải chứng minh được mình đúng.</a:t>
            </a:r>
            <a:endParaRPr lang="en-US" sz="2900" dirty="0"/>
          </a:p>
        </p:txBody>
      </p:sp>
      <p:sp>
        <p:nvSpPr>
          <p:cNvPr id="8" name="Shape 5"/>
          <p:cNvSpPr/>
          <p:nvPr/>
        </p:nvSpPr>
        <p:spPr>
          <a:xfrm>
            <a:off x="640080" y="4407408"/>
            <a:ext cx="5257800" cy="347472"/>
          </a:xfrm>
          <a:prstGeom prst="roundRect">
            <a:avLst>
              <a:gd name="adj" fmla="val 13158"/>
            </a:avLst>
          </a:prstGeom>
          <a:solidFill>
            <a:srgbClr val="FFB84D">
              <a:alpha val="18000"/>
            </a:srgbClr>
          </a:solidFill>
          <a:ln w="12700">
            <a:solidFill>
              <a:srgbClr val="FFB84D"/>
            </a:solidFill>
            <a:prstDash val="solid"/>
          </a:ln>
        </p:spPr>
      </p:sp>
      <p:sp>
        <p:nvSpPr>
          <p:cNvPr id="9" name="Text 6"/>
          <p:cNvSpPr/>
          <p:nvPr/>
        </p:nvSpPr>
        <p:spPr>
          <a:xfrm>
            <a:off x="713232" y="4498848"/>
            <a:ext cx="5111496" cy="146304"/>
          </a:xfrm>
          <a:prstGeom prst="rect">
            <a:avLst/>
          </a:prstGeom>
          <a:noFill/>
          <a:ln/>
        </p:spPr>
        <p:txBody>
          <a:bodyPr wrap="square" lIns="0" tIns="0" rIns="0" bIns="0" rtlCol="0" anchor="ctr"/>
          <a:lstStyle/>
          <a:p>
            <a:pPr marL="0" indent="0" algn="ctr">
              <a:buNone/>
            </a:pPr>
            <a:r>
              <a:rPr lang="en-US" sz="900" b="1" dirty="0" smtClean="0">
                <a:solidFill>
                  <a:srgbClr val="FFB84D"/>
                </a:solidFill>
              </a:rPr>
              <a:t>CẢM ƠN CÁC BẠN ĐÃ THEO DÕI</a:t>
            </a:r>
            <a:endParaRPr lang="en-US" sz="900" dirty="0"/>
          </a:p>
        </p:txBody>
      </p:sp>
      <p:sp>
        <p:nvSpPr>
          <p:cNvPr id="12" name="Text 9"/>
          <p:cNvSpPr/>
          <p:nvPr/>
        </p:nvSpPr>
        <p:spPr>
          <a:xfrm>
            <a:off x="640080" y="5806440"/>
            <a:ext cx="3200400" cy="274320"/>
          </a:xfrm>
          <a:prstGeom prst="rect">
            <a:avLst/>
          </a:prstGeom>
          <a:noFill/>
          <a:ln/>
        </p:spPr>
        <p:txBody>
          <a:bodyPr wrap="square" lIns="0" tIns="0" rIns="0" bIns="0" rtlCol="0" anchor="ctr"/>
          <a:lstStyle/>
          <a:p>
            <a:pPr marL="0" indent="0">
              <a:buNone/>
            </a:pPr>
            <a:r>
              <a:rPr lang="en-US" sz="1600" b="1" kern="0" spc="140" dirty="0">
                <a:solidFill>
                  <a:srgbClr val="37D996"/>
                </a:solidFill>
              </a:rPr>
              <a:t>API FLOW AGENT</a:t>
            </a:r>
            <a:endParaRPr lang="en-US" sz="1600" dirty="0"/>
          </a:p>
        </p:txBody>
      </p:sp>
      <p:sp>
        <p:nvSpPr>
          <p:cNvPr id="25" name="Slide Number Placeholder 0"/>
          <p:cNvSpPr>
            <a:spLocks noGrp="1"/>
          </p:cNvSpPr>
          <p:nvPr>
            <p:ph type="sldNum" sz="quarter" idx="4294967295"/>
          </p:nvPr>
        </p:nvSpPr>
        <p:spPr>
          <a:xfrm>
            <a:off x="11768328" y="6492240"/>
            <a:ext cx="182880" cy="137160"/>
          </a:xfrm>
          <a:prstGeom prst="rect">
            <a:avLst/>
          </a:prstGeom>
          <a:extLst>
            <a:ext uri="{C572A759-6A51-4108-AA02-DFA0A04FC94B}">
              <ma14:wrappingTextBoxFlag xmlns:ma14="http://schemas.microsoft.com/office/mac/drawingml/2011/main" xmlns="" val="0"/>
            </a:ext>
          </a:extLst>
        </p:spPr>
        <p:txBody>
          <a:bodyPr lIns="0" tIns="0" rIns="0" bIns="0"/>
          <a:lstStyle>
            <a:lvl1pPr>
              <a:defRPr sz="800">
                <a:solidFill>
                  <a:srgbClr val="667D96"/>
                </a:solidFill>
              </a:defRPr>
            </a:lvl1pPr>
          </a:lstStyle>
          <a:p>
            <a:pPr algn="l"/>
            <a:fld id="{F7021451-1387-4CA6-816F-3879F97B5CBC}" type="slidenum">
              <a:rPr lang="en-US" b="0"/>
              <a:t>10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223</TotalTime>
  <Words>1136</Words>
  <Application>Microsoft Office PowerPoint</Application>
  <PresentationFormat>Widescreen</PresentationFormat>
  <Paragraphs>155</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Aptos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API Flow Agent - Hackathon Pitch Deck</dc:title>
  <dc:subject>GreenNode Hackathon</dc:subject>
  <dc:creator>Binh Nguyen Thanh (CN-PTHTL)</dc:creator>
  <cp:lastModifiedBy>Binh Nguyen Thanh (CN-PTHTL)</cp:lastModifiedBy>
  <cp:revision>4</cp:revision>
  <dcterms:created xsi:type="dcterms:W3CDTF">2026-09-20T18:50:47Z</dcterms:created>
  <dcterms:modified xsi:type="dcterms:W3CDTF">2026-09-21T12:32:39Z</dcterms:modified>
</cp:coreProperties>
</file>